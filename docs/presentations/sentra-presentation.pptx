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Sentra: a web app that reads a piece of text and tells you if it is positive, negative or neutral using a trained machine-learning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volume and inconsistency. Sentiment analysis gives one consistent label per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core interaction. The three classes are Positive, Neutral and Negative. The result card also lists probabilities and highlights influential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browser calls the Flask API, which uses the trained model. Firebase handles accounts and history directly from the browser, protected by security rules, so the backend needs no secret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stage. Key point: the vectorizer is fitted only on training data, and the test set is used once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dataset source and why stop words are kept: negations carry sentiment. Using one cleaning function for training and prediction avoids train/serve mismatch.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test-set scores from ml/artifacts/metrics.json. Say clearly that they come from 12,284 texts the model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beat Naive Bayes by about five F1 points on validation. The test score is lower because the test split is separate data; it is the number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is stateless: it takes text and returns a structured prediction. Example values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home page here. Show a sample, the highlighted words, then switch to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talks to Firebase directly, so the Python backend needs no service-account key. The web config is public by design; the Firestore rules are the real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flows were verified against a simulated Firebase; repeat them on the live site with your real Firebase project before submitting.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the saved model must use the same scikit-learn version as the deployment; versions are pinned in requirements.txt.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limitations: this shows you understand the model, which examiners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live app and run one example, then show the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0" y="0"/>
            <a:ext cx="91440" cy="91440"/>
          </a:xfrm>
          <a:prstGeom prst="rect">
            <a:avLst/>
          </a:prstGeom>
          <a:noFill/>
          <a:ln/>
        </p:spPr>
        <p:txBody>
          <a:bodyPr wrap="square" rtlCol="0" anchor="ctr"/>
          <a:lstStyle/>
          <a:p>
            <a:pPr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4FB"/>
        </a:solidFill>
      </p:bgPr>
    </p:bg>
    <p:spTree>
      <p:nvGrpSpPr>
        <p:cNvPr id="1" name=""/>
        <p:cNvGrpSpPr/>
        <p:nvPr/>
      </p:nvGrpSpPr>
      <p:grpSpPr>
        <a:xfrm>
          <a:off x="0" y="0"/>
          <a:ext cx="0" cy="0"/>
          <a:chOff x="0" y="0"/>
          <a:chExt cx="0" cy="0"/>
        </a:xfrm>
      </p:grpSpPr>
      <p:sp>
        <p:nvSpPr>
          <p:cNvPr id="2" name="Text 0"/>
          <p:cNvSpPr/>
          <p:nvPr/>
        </p:nvSpPr>
        <p:spPr>
          <a:xfrm>
            <a:off x="1280160" y="6309360"/>
            <a:ext cx="1828800" cy="256032"/>
          </a:xfrm>
          <a:prstGeom prst="rect">
            <a:avLst/>
          </a:prstGeom>
          <a:noFill/>
          <a:ln/>
        </p:spPr>
        <p:txBody>
          <a:bodyPr wrap="square" lIns="0" tIns="0" rIns="0" bIns="0" rtlCol="0" anchor="ctr"/>
          <a:lstStyle/>
          <a:p>
            <a:pPr indent="0" marL="0">
              <a:buNone/>
            </a:pPr>
            <a:r>
              <a:rPr lang="en-US" sz="1200" dirty="0">
                <a:solidFill>
                  <a:srgbClr val="5A6385"/>
                </a:solidFill>
                <a:latin typeface="Calibri" pitchFamily="34" charset="0"/>
                <a:ea typeface="Calibri" pitchFamily="34" charset="-122"/>
                <a:cs typeface="Calibri" pitchFamily="34" charset="-120"/>
              </a:rPr>
              <a:t>Sentra</a:t>
            </a:r>
            <a:endParaRPr lang="en-US" sz="1200" dirty="0"/>
          </a:p>
        </p:txBody>
      </p:sp>
      <p:sp>
        <p:nvSpPr>
          <p:cNvPr id="3" name="Text 1"/>
          <p:cNvSpPr/>
          <p:nvPr>
            <p:ph idx="104" type="title" hasCustomPrompt="1"/>
          </p:nvPr>
        </p:nvSpPr>
        <p:spPr>
          <a:xfrm>
            <a:off x="640080" y="411480"/>
            <a:ext cx="10911535" cy="868680"/>
          </a:xfrm>
          <a:prstGeom prst="rect">
            <a:avLst/>
          </a:prstGeom>
          <a:noFill/>
          <a:ln/>
        </p:spPr>
        <p:txBody>
          <a:bodyPr wrap="square" rtlCol="0"/>
          <a:lstStyle>
            <a:lvl1pPr algn="l" indent="0" marL="0">
              <a:buNone/>
              <a:defRPr lang="en-US" sz="3600" b="1" dirty="0">
                <a:solidFill>
                  <a:srgbClr val="0E1330"/>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sentra-ai-powered-sentiment-analysi.vercel.app" TargetMode="External"/><Relationship Id="rId2" Type="http://schemas.openxmlformats.org/officeDocument/2006/relationships/hyperlink" Target="https://github.com/scientistayat-engineer/Sentra-AI-Powered-Sentiment-Analysis" TargetMode="External"/><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rb-0B9E65"/>
          <p:cNvSpPr/>
          <p:nvPr/>
        </p:nvSpPr>
        <p:spPr>
          <a:xfrm>
            <a:off x="7406640" y="914400"/>
            <a:ext cx="3291840" cy="3291840"/>
          </a:xfrm>
          <a:prstGeom prst="ellipse">
            <a:avLst/>
          </a:prstGeom>
          <a:solidFill>
            <a:srgbClr val="0B9E65">
              <a:alpha val="62000"/>
            </a:srgbClr>
          </a:solidFill>
          <a:ln w="12700">
            <a:solidFill>
              <a:srgbClr val="0B9E65"/>
            </a:solidFill>
            <a:prstDash val="solid"/>
          </a:ln>
        </p:spPr>
      </p:sp>
      <p:sp>
        <p:nvSpPr>
          <p:cNvPr id="3" name="orb-E8A317"/>
          <p:cNvSpPr/>
          <p:nvPr/>
        </p:nvSpPr>
        <p:spPr>
          <a:xfrm>
            <a:off x="8778240" y="2011680"/>
            <a:ext cx="3291840" cy="3291840"/>
          </a:xfrm>
          <a:prstGeom prst="ellipse">
            <a:avLst/>
          </a:prstGeom>
          <a:solidFill>
            <a:srgbClr val="E8A317">
              <a:alpha val="62000"/>
            </a:srgbClr>
          </a:solidFill>
          <a:ln w="12700">
            <a:solidFill>
              <a:srgbClr val="E8A317"/>
            </a:solidFill>
            <a:prstDash val="solid"/>
          </a:ln>
        </p:spPr>
      </p:sp>
      <p:sp>
        <p:nvSpPr>
          <p:cNvPr id="4" name="orb-D93A57"/>
          <p:cNvSpPr/>
          <p:nvPr/>
        </p:nvSpPr>
        <p:spPr>
          <a:xfrm>
            <a:off x="7315200" y="2651760"/>
            <a:ext cx="3291840" cy="3291840"/>
          </a:xfrm>
          <a:prstGeom prst="ellipse">
            <a:avLst/>
          </a:prstGeom>
          <a:solidFill>
            <a:srgbClr val="D93A57">
              <a:alpha val="62000"/>
            </a:srgbClr>
          </a:solidFill>
          <a:ln w="12700">
            <a:solidFill>
              <a:srgbClr val="D93A57"/>
            </a:solidFill>
            <a:prstDash val="solid"/>
          </a:ln>
        </p:spPr>
      </p:sp>
      <p:sp>
        <p:nvSpPr>
          <p:cNvPr id="5" name="orb-core"/>
          <p:cNvSpPr/>
          <p:nvPr/>
        </p:nvSpPr>
        <p:spPr>
          <a:xfrm>
            <a:off x="9189720" y="3520440"/>
            <a:ext cx="1005840" cy="1005840"/>
          </a:xfrm>
          <a:prstGeom prst="ellipse">
            <a:avLst/>
          </a:prstGeom>
          <a:solidFill>
            <a:srgbClr val="0E1330"/>
          </a:solidFill>
          <a:ln w="12700">
            <a:solidFill>
              <a:srgbClr val="0E1330"/>
            </a:solidFill>
            <a:prstDash val="solid"/>
          </a:ln>
        </p:spPr>
      </p:sp>
      <p:sp>
        <p:nvSpPr>
          <p:cNvPr id="6" name="Text 4"/>
          <p:cNvSpPr txBox="1"/>
          <p:nvPr/>
        </p:nvSpPr>
        <p:spPr>
          <a:xfrm>
            <a:off x="822960" y="1554480"/>
            <a:ext cx="6400800" cy="1280160"/>
          </a:xfrm>
          <a:prstGeom prst="rect">
            <a:avLst/>
          </a:prstGeom>
          <a:noFill/>
          <a:ln/>
        </p:spPr>
        <p:txBody>
          <a:bodyPr wrap="square" lIns="0" tIns="0" rIns="0" bIns="0" rtlCol="0" anchor="t"/>
          <a:lstStyle/>
          <a:p>
            <a:pPr indent="0" marL="0">
              <a:buNone/>
            </a:pPr>
            <a:r>
              <a:rPr lang="en-US" sz="7200" b="1" dirty="0">
                <a:solidFill>
                  <a:srgbClr val="FFFFFF"/>
                </a:solidFill>
                <a:latin typeface="Cambria" pitchFamily="34" charset="0"/>
                <a:ea typeface="Cambria" pitchFamily="34" charset="-122"/>
                <a:cs typeface="Cambria" pitchFamily="34" charset="-120"/>
              </a:rPr>
              <a:t>Sentra</a:t>
            </a:r>
            <a:endParaRPr lang="en-US" sz="7200" dirty="0"/>
          </a:p>
        </p:txBody>
      </p:sp>
      <p:sp>
        <p:nvSpPr>
          <p:cNvPr id="7" name="Text 5"/>
          <p:cNvSpPr txBox="1"/>
          <p:nvPr/>
        </p:nvSpPr>
        <p:spPr>
          <a:xfrm>
            <a:off x="822960" y="2926080"/>
            <a:ext cx="6035040" cy="1097280"/>
          </a:xfrm>
          <a:prstGeom prst="rect">
            <a:avLst/>
          </a:prstGeom>
          <a:noFill/>
          <a:ln/>
        </p:spPr>
        <p:txBody>
          <a:bodyPr wrap="square" lIns="0" tIns="0" rIns="0" bIns="0" rtlCol="0" anchor="t"/>
          <a:lstStyle/>
          <a:p>
            <a:pPr indent="0" marL="0">
              <a:buNone/>
            </a:pPr>
            <a:r>
              <a:rPr lang="en-US" sz="2600" dirty="0">
                <a:solidFill>
                  <a:srgbClr val="CFD4F2"/>
                </a:solidFill>
                <a:latin typeface="Calibri" pitchFamily="34" charset="0"/>
                <a:ea typeface="Calibri" pitchFamily="34" charset="-122"/>
                <a:cs typeface="Calibri" pitchFamily="34" charset="-120"/>
              </a:rPr>
              <a:t>AI-powered sentiment analysis for customer feedback</a:t>
            </a:r>
            <a:endParaRPr lang="en-US" sz="2600" dirty="0"/>
          </a:p>
        </p:txBody>
      </p:sp>
      <p:sp>
        <p:nvSpPr>
          <p:cNvPr id="8" name="Text 6"/>
          <p:cNvSpPr txBox="1"/>
          <p:nvPr/>
        </p:nvSpPr>
        <p:spPr>
          <a:xfrm>
            <a:off x="822960" y="5120640"/>
            <a:ext cx="64008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Anushay Ayat  |  AI &amp; Data Science, SMIT</a:t>
            </a:r>
            <a:endParaRPr lang="en-US" sz="1800" dirty="0"/>
          </a:p>
        </p:txBody>
      </p:sp>
      <p:sp>
        <p:nvSpPr>
          <p:cNvPr id="9" name="Text 7"/>
          <p:cNvSpPr txBox="1"/>
          <p:nvPr/>
        </p:nvSpPr>
        <p:spPr>
          <a:xfrm>
            <a:off x="822960" y="5532120"/>
            <a:ext cx="6400800" cy="365760"/>
          </a:xfrm>
          <a:prstGeom prst="rect">
            <a:avLst/>
          </a:prstGeom>
          <a:noFill/>
          <a:ln/>
        </p:spPr>
        <p:txBody>
          <a:bodyPr wrap="square" lIns="0" tIns="0" rIns="0" bIns="0" rtlCol="0" anchor="t"/>
          <a:lstStyle/>
          <a:p>
            <a:pPr indent="0" marL="0">
              <a:buNone/>
            </a:pPr>
            <a:r>
              <a:rPr lang="en-US" sz="1600" dirty="0">
                <a:solidFill>
                  <a:srgbClr val="A9B0D8"/>
                </a:solidFill>
                <a:latin typeface="Calibri" pitchFamily="34" charset="0"/>
                <a:ea typeface="Calibri" pitchFamily="34" charset="-122"/>
                <a:cs typeface="Calibri" pitchFamily="34" charset="-120"/>
              </a:rPr>
              <a:t>Full-stack project: Python, machine learning, Firebase, Vercel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640080" y="411480"/>
            <a:ext cx="1091153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mbria" pitchFamily="34" charset="0"/>
                <a:ea typeface="Cambria" pitchFamily="34" charset="-122"/>
                <a:cs typeface="Cambria" pitchFamily="34" charset="-120"/>
              </a:rPr>
              <a:t>Feedback is too big to read by hand</a:t>
            </a:r>
            <a:endParaRPr lang="en-US" sz="3600" dirty="0"/>
          </a:p>
        </p:txBody>
      </p:sp>
      <p:sp>
        <p:nvSpPr>
          <p:cNvPr id="3" name="Text 1"/>
          <p:cNvSpPr txBox="1"/>
          <p:nvPr/>
        </p:nvSpPr>
        <p:spPr>
          <a:xfrm>
            <a:off x="640080" y="1600200"/>
            <a:ext cx="4754880" cy="2011680"/>
          </a:xfrm>
          <a:prstGeom prst="rect">
            <a:avLst/>
          </a:prstGeom>
          <a:noFill/>
          <a:ln/>
        </p:spPr>
        <p:txBody>
          <a:bodyPr wrap="square" lIns="0" tIns="0" rIns="0" bIns="0" rtlCol="0" anchor="t"/>
          <a:lstStyle/>
          <a:p>
            <a:pPr indent="0" marL="0">
              <a:buNone/>
            </a:pPr>
            <a:r>
              <a:rPr lang="en-US" sz="2000" dirty="0">
                <a:solidFill>
                  <a:srgbClr val="0E1330"/>
                </a:solidFill>
                <a:latin typeface="Calibri" pitchFamily="34" charset="0"/>
                <a:ea typeface="Calibri" pitchFamily="34" charset="-122"/>
                <a:cs typeface="Calibri" pitchFamily="34" charset="-120"/>
              </a:rPr>
              <a:t>Businesses collect thousands of reviews, posts and messages every week. Reading each one is slow, and two people rarely judge the same text the same way.</a:t>
            </a:r>
            <a:endParaRPr lang="en-US" sz="2000" dirty="0"/>
          </a:p>
        </p:txBody>
      </p:sp>
      <p:sp>
        <p:nvSpPr>
          <p:cNvPr id="4" name="Text 2"/>
          <p:cNvSpPr txBox="1"/>
          <p:nvPr/>
        </p:nvSpPr>
        <p:spPr>
          <a:xfrm>
            <a:off x="640080" y="3931920"/>
            <a:ext cx="4754880" cy="1463040"/>
          </a:xfrm>
          <a:prstGeom prst="rect">
            <a:avLst/>
          </a:prstGeom>
          <a:noFill/>
          <a:ln/>
        </p:spPr>
        <p:txBody>
          <a:bodyPr wrap="square" lIns="0" tIns="0" rIns="0" bIns="0" rtlCol="0" anchor="t"/>
          <a:lstStyle/>
          <a:p>
            <a:pPr indent="0" marL="0">
              <a:buNone/>
            </a:pPr>
            <a:r>
              <a:rPr lang="en-US" sz="2000" b="1" dirty="0">
                <a:solidFill>
                  <a:srgbClr val="5B4BE0"/>
                </a:solidFill>
                <a:latin typeface="Calibri" pitchFamily="34" charset="0"/>
                <a:ea typeface="Calibri" pitchFamily="34" charset="-122"/>
                <a:cs typeface="Calibri" pitchFamily="34" charset="-120"/>
              </a:rPr>
              <a:t>Sentiment analysis turns every text into one clear label, so teams can see what customers feel at a glance.</a:t>
            </a:r>
            <a:endParaRPr lang="en-US" sz="2000" dirty="0"/>
          </a:p>
        </p:txBody>
      </p:sp>
      <p:sp>
        <p:nvSpPr>
          <p:cNvPr id="5" name="card"/>
          <p:cNvSpPr/>
          <p:nvPr/>
        </p:nvSpPr>
        <p:spPr>
          <a:xfrm>
            <a:off x="6309360" y="1600200"/>
            <a:ext cx="5257800" cy="1280160"/>
          </a:xfrm>
          <a:prstGeom prst="roundRect">
            <a:avLst>
              <a:gd name="adj" fmla="val 10000"/>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6" name="icon-bg"/>
          <p:cNvSpPr/>
          <p:nvPr/>
        </p:nvSpPr>
        <p:spPr>
          <a:xfrm>
            <a:off x="6583680" y="1874520"/>
            <a:ext cx="731520" cy="731520"/>
          </a:xfrm>
          <a:prstGeom prst="ellipse">
            <a:avLst/>
          </a:prstGeom>
          <a:solidFill>
            <a:srgbClr val="5B4BE0"/>
          </a:solidFill>
          <a:ln w="12700">
            <a:solidFill>
              <a:srgbClr val="5B4BE0"/>
            </a:solidFill>
            <a:prstDash val="solid"/>
          </a:ln>
        </p:spPr>
      </p:sp>
      <p:pic>
        <p:nvPicPr>
          <p:cNvPr id="7" name="Image 0" descr="Comments icon">    </p:cNvPr>
          <p:cNvPicPr>
            <a:picLocks noChangeAspect="1"/>
          </p:cNvPicPr>
          <p:nvPr/>
        </p:nvPicPr>
        <p:blipFill>
          <a:blip r:embed="rId1"/>
          <a:stretch>
            <a:fillRect/>
          </a:stretch>
        </p:blipFill>
        <p:spPr>
          <a:xfrm>
            <a:off x="6766560" y="2057400"/>
            <a:ext cx="365760" cy="365760"/>
          </a:xfrm>
          <a:prstGeom prst="rect">
            <a:avLst/>
          </a:prstGeom>
        </p:spPr>
      </p:pic>
      <p:sp>
        <p:nvSpPr>
          <p:cNvPr id="8" name="Text 5"/>
          <p:cNvSpPr txBox="1"/>
          <p:nvPr/>
        </p:nvSpPr>
        <p:spPr>
          <a:xfrm>
            <a:off x="7543800" y="1856232"/>
            <a:ext cx="2377440" cy="365760"/>
          </a:xfrm>
          <a:prstGeom prst="rect">
            <a:avLst/>
          </a:prstGeom>
          <a:noFill/>
          <a:ln/>
        </p:spPr>
        <p:txBody>
          <a:bodyPr wrap="square" lIns="0" tIns="0" rIns="0" bIns="0" rtlCol="0" anchor="t"/>
          <a:lstStyle/>
          <a:p>
            <a:pPr indent="0" marL="0">
              <a:buNone/>
            </a:pPr>
            <a:r>
              <a:rPr lang="en-US" sz="2000" b="1" dirty="0">
                <a:solidFill>
                  <a:srgbClr val="0E1330"/>
                </a:solidFill>
                <a:latin typeface="Calibri" pitchFamily="34" charset="0"/>
                <a:ea typeface="Calibri" pitchFamily="34" charset="-122"/>
                <a:cs typeface="Calibri" pitchFamily="34" charset="-120"/>
              </a:rPr>
              <a:t>Product reviews</a:t>
            </a:r>
            <a:endParaRPr lang="en-US" sz="2000" dirty="0"/>
          </a:p>
        </p:txBody>
      </p:sp>
      <p:sp>
        <p:nvSpPr>
          <p:cNvPr id="9" name="Text 6"/>
          <p:cNvSpPr txBox="1"/>
          <p:nvPr/>
        </p:nvSpPr>
        <p:spPr>
          <a:xfrm>
            <a:off x="7543800" y="2258568"/>
            <a:ext cx="2560320" cy="365760"/>
          </a:xfrm>
          <a:prstGeom prst="rect">
            <a:avLst/>
          </a:prstGeom>
          <a:noFill/>
          <a:ln/>
        </p:spPr>
        <p:txBody>
          <a:bodyPr wrap="square" lIns="0" tIns="0" rIns="0" bIns="0" rtlCol="0" anchor="t"/>
          <a:lstStyle/>
          <a:p>
            <a:pPr indent="0" marL="0">
              <a:buNone/>
            </a:pPr>
            <a:r>
              <a:rPr lang="en-US" sz="1500" dirty="0">
                <a:solidFill>
                  <a:srgbClr val="5A6385"/>
                </a:solidFill>
                <a:latin typeface="Calibri" pitchFamily="34" charset="0"/>
                <a:ea typeface="Calibri" pitchFamily="34" charset="-122"/>
                <a:cs typeface="Calibri" pitchFamily="34" charset="-120"/>
              </a:rPr>
              <a:t>Is the product liked?</a:t>
            </a:r>
            <a:endParaRPr lang="en-US" sz="1500" dirty="0"/>
          </a:p>
        </p:txBody>
      </p:sp>
      <p:sp>
        <p:nvSpPr>
          <p:cNvPr id="10" name="pill-Positive"/>
          <p:cNvSpPr/>
          <p:nvPr/>
        </p:nvSpPr>
        <p:spPr>
          <a:xfrm>
            <a:off x="10058400" y="2057400"/>
            <a:ext cx="1280160" cy="365760"/>
          </a:xfrm>
          <a:prstGeom prst="roundRect">
            <a:avLst>
              <a:gd name="adj" fmla="val 50000"/>
            </a:avLst>
          </a:prstGeom>
          <a:solidFill>
            <a:srgbClr val="0B9E65"/>
          </a:solidFill>
          <a:ln w="12700">
            <a:solidFill>
              <a:srgbClr val="0B9E65"/>
            </a:solidFill>
            <a:prstDash val="solid"/>
          </a:ln>
        </p:spPr>
      </p:sp>
      <p:sp>
        <p:nvSpPr>
          <p:cNvPr id="11" name="Text 8"/>
          <p:cNvSpPr txBox="1"/>
          <p:nvPr/>
        </p:nvSpPr>
        <p:spPr>
          <a:xfrm>
            <a:off x="10058400" y="2057400"/>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Positive</a:t>
            </a:r>
            <a:endParaRPr lang="en-US" sz="1400" dirty="0"/>
          </a:p>
        </p:txBody>
      </p:sp>
      <p:sp>
        <p:nvSpPr>
          <p:cNvPr id="12" name="card"/>
          <p:cNvSpPr/>
          <p:nvPr/>
        </p:nvSpPr>
        <p:spPr>
          <a:xfrm>
            <a:off x="6309360" y="3108960"/>
            <a:ext cx="5257800" cy="1280160"/>
          </a:xfrm>
          <a:prstGeom prst="roundRect">
            <a:avLst>
              <a:gd name="adj" fmla="val 10000"/>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3" name="icon-bg"/>
          <p:cNvSpPr/>
          <p:nvPr/>
        </p:nvSpPr>
        <p:spPr>
          <a:xfrm>
            <a:off x="6583680" y="3383280"/>
            <a:ext cx="731520" cy="731520"/>
          </a:xfrm>
          <a:prstGeom prst="ellipse">
            <a:avLst/>
          </a:prstGeom>
          <a:solidFill>
            <a:srgbClr val="5B4BE0"/>
          </a:solidFill>
          <a:ln w="12700">
            <a:solidFill>
              <a:srgbClr val="5B4BE0"/>
            </a:solidFill>
            <a:prstDash val="solid"/>
          </a:ln>
        </p:spPr>
      </p:sp>
      <p:pic>
        <p:nvPicPr>
          <p:cNvPr id="14" name="Image 1" descr="ShareAlt icon">    </p:cNvPr>
          <p:cNvPicPr>
            <a:picLocks noChangeAspect="1"/>
          </p:cNvPicPr>
          <p:nvPr/>
        </p:nvPicPr>
        <p:blipFill>
          <a:blip r:embed="rId2"/>
          <a:stretch>
            <a:fillRect/>
          </a:stretch>
        </p:blipFill>
        <p:spPr>
          <a:xfrm>
            <a:off x="6766560" y="3566160"/>
            <a:ext cx="365760" cy="365760"/>
          </a:xfrm>
          <a:prstGeom prst="rect">
            <a:avLst/>
          </a:prstGeom>
        </p:spPr>
      </p:pic>
      <p:sp>
        <p:nvSpPr>
          <p:cNvPr id="15" name="Text 11"/>
          <p:cNvSpPr txBox="1"/>
          <p:nvPr/>
        </p:nvSpPr>
        <p:spPr>
          <a:xfrm>
            <a:off x="7543800" y="3364992"/>
            <a:ext cx="2377440" cy="365760"/>
          </a:xfrm>
          <a:prstGeom prst="rect">
            <a:avLst/>
          </a:prstGeom>
          <a:noFill/>
          <a:ln/>
        </p:spPr>
        <p:txBody>
          <a:bodyPr wrap="square" lIns="0" tIns="0" rIns="0" bIns="0" rtlCol="0" anchor="t"/>
          <a:lstStyle/>
          <a:p>
            <a:pPr indent="0" marL="0">
              <a:buNone/>
            </a:pPr>
            <a:r>
              <a:rPr lang="en-US" sz="2000" b="1" dirty="0">
                <a:solidFill>
                  <a:srgbClr val="0E1330"/>
                </a:solidFill>
                <a:latin typeface="Calibri" pitchFamily="34" charset="0"/>
                <a:ea typeface="Calibri" pitchFamily="34" charset="-122"/>
                <a:cs typeface="Calibri" pitchFamily="34" charset="-120"/>
              </a:rPr>
              <a:t>Social media posts</a:t>
            </a:r>
            <a:endParaRPr lang="en-US" sz="2000" dirty="0"/>
          </a:p>
        </p:txBody>
      </p:sp>
      <p:sp>
        <p:nvSpPr>
          <p:cNvPr id="16" name="Text 12"/>
          <p:cNvSpPr txBox="1"/>
          <p:nvPr/>
        </p:nvSpPr>
        <p:spPr>
          <a:xfrm>
            <a:off x="7543800" y="3767328"/>
            <a:ext cx="2560320" cy="365760"/>
          </a:xfrm>
          <a:prstGeom prst="rect">
            <a:avLst/>
          </a:prstGeom>
          <a:noFill/>
          <a:ln/>
        </p:spPr>
        <p:txBody>
          <a:bodyPr wrap="square" lIns="0" tIns="0" rIns="0" bIns="0" rtlCol="0" anchor="t"/>
          <a:lstStyle/>
          <a:p>
            <a:pPr indent="0" marL="0">
              <a:buNone/>
            </a:pPr>
            <a:r>
              <a:rPr lang="en-US" sz="1500" dirty="0">
                <a:solidFill>
                  <a:srgbClr val="5A6385"/>
                </a:solidFill>
                <a:latin typeface="Calibri" pitchFamily="34" charset="0"/>
                <a:ea typeface="Calibri" pitchFamily="34" charset="-122"/>
                <a:cs typeface="Calibri" pitchFamily="34" charset="-120"/>
              </a:rPr>
              <a:t>What is the public mood?</a:t>
            </a:r>
            <a:endParaRPr lang="en-US" sz="1500" dirty="0"/>
          </a:p>
        </p:txBody>
      </p:sp>
      <p:sp>
        <p:nvSpPr>
          <p:cNvPr id="17" name="pill-Neutral"/>
          <p:cNvSpPr/>
          <p:nvPr/>
        </p:nvSpPr>
        <p:spPr>
          <a:xfrm>
            <a:off x="10058400" y="3566160"/>
            <a:ext cx="1280160" cy="365760"/>
          </a:xfrm>
          <a:prstGeom prst="roundRect">
            <a:avLst>
              <a:gd name="adj" fmla="val 50000"/>
            </a:avLst>
          </a:prstGeom>
          <a:solidFill>
            <a:srgbClr val="E8A317"/>
          </a:solidFill>
          <a:ln w="12700">
            <a:solidFill>
              <a:srgbClr val="E8A317"/>
            </a:solidFill>
            <a:prstDash val="solid"/>
          </a:ln>
        </p:spPr>
      </p:sp>
      <p:sp>
        <p:nvSpPr>
          <p:cNvPr id="18" name="Text 14"/>
          <p:cNvSpPr txBox="1"/>
          <p:nvPr/>
        </p:nvSpPr>
        <p:spPr>
          <a:xfrm>
            <a:off x="10058400" y="3566160"/>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Neutral</a:t>
            </a:r>
            <a:endParaRPr lang="en-US" sz="1400" dirty="0"/>
          </a:p>
        </p:txBody>
      </p:sp>
      <p:sp>
        <p:nvSpPr>
          <p:cNvPr id="19" name="card"/>
          <p:cNvSpPr/>
          <p:nvPr/>
        </p:nvSpPr>
        <p:spPr>
          <a:xfrm>
            <a:off x="6309360" y="4617720"/>
            <a:ext cx="5257800" cy="1280160"/>
          </a:xfrm>
          <a:prstGeom prst="roundRect">
            <a:avLst>
              <a:gd name="adj" fmla="val 10000"/>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20" name="icon-bg"/>
          <p:cNvSpPr/>
          <p:nvPr/>
        </p:nvSpPr>
        <p:spPr>
          <a:xfrm>
            <a:off x="6583680" y="4892040"/>
            <a:ext cx="731520" cy="731520"/>
          </a:xfrm>
          <a:prstGeom prst="ellipse">
            <a:avLst/>
          </a:prstGeom>
          <a:solidFill>
            <a:srgbClr val="5B4BE0"/>
          </a:solidFill>
          <a:ln w="12700">
            <a:solidFill>
              <a:srgbClr val="5B4BE0"/>
            </a:solidFill>
            <a:prstDash val="solid"/>
          </a:ln>
        </p:spPr>
      </p:sp>
      <p:pic>
        <p:nvPicPr>
          <p:cNvPr id="21" name="Image 2" descr="Headset icon">    </p:cNvPr>
          <p:cNvPicPr>
            <a:picLocks noChangeAspect="1"/>
          </p:cNvPicPr>
          <p:nvPr/>
        </p:nvPicPr>
        <p:blipFill>
          <a:blip r:embed="rId3"/>
          <a:stretch>
            <a:fillRect/>
          </a:stretch>
        </p:blipFill>
        <p:spPr>
          <a:xfrm>
            <a:off x="6766560" y="5074920"/>
            <a:ext cx="365760" cy="365760"/>
          </a:xfrm>
          <a:prstGeom prst="rect">
            <a:avLst/>
          </a:prstGeom>
        </p:spPr>
      </p:pic>
      <p:sp>
        <p:nvSpPr>
          <p:cNvPr id="22" name="Text 17"/>
          <p:cNvSpPr txBox="1"/>
          <p:nvPr/>
        </p:nvSpPr>
        <p:spPr>
          <a:xfrm>
            <a:off x="7543800" y="4873752"/>
            <a:ext cx="2377440" cy="365760"/>
          </a:xfrm>
          <a:prstGeom prst="rect">
            <a:avLst/>
          </a:prstGeom>
          <a:noFill/>
          <a:ln/>
        </p:spPr>
        <p:txBody>
          <a:bodyPr wrap="square" lIns="0" tIns="0" rIns="0" bIns="0" rtlCol="0" anchor="t"/>
          <a:lstStyle/>
          <a:p>
            <a:pPr indent="0" marL="0">
              <a:buNone/>
            </a:pPr>
            <a:r>
              <a:rPr lang="en-US" sz="2000" b="1" dirty="0">
                <a:solidFill>
                  <a:srgbClr val="0E1330"/>
                </a:solidFill>
                <a:latin typeface="Calibri" pitchFamily="34" charset="0"/>
                <a:ea typeface="Calibri" pitchFamily="34" charset="-122"/>
                <a:cs typeface="Calibri" pitchFamily="34" charset="-120"/>
              </a:rPr>
              <a:t>Support messages</a:t>
            </a:r>
            <a:endParaRPr lang="en-US" sz="2000" dirty="0"/>
          </a:p>
        </p:txBody>
      </p:sp>
      <p:sp>
        <p:nvSpPr>
          <p:cNvPr id="23" name="Text 18"/>
          <p:cNvSpPr txBox="1"/>
          <p:nvPr/>
        </p:nvSpPr>
        <p:spPr>
          <a:xfrm>
            <a:off x="7543800" y="5276088"/>
            <a:ext cx="2560320" cy="365760"/>
          </a:xfrm>
          <a:prstGeom prst="rect">
            <a:avLst/>
          </a:prstGeom>
          <a:noFill/>
          <a:ln/>
        </p:spPr>
        <p:txBody>
          <a:bodyPr wrap="square" lIns="0" tIns="0" rIns="0" bIns="0" rtlCol="0" anchor="t"/>
          <a:lstStyle/>
          <a:p>
            <a:pPr indent="0" marL="0">
              <a:buNone/>
            </a:pPr>
            <a:r>
              <a:rPr lang="en-US" sz="1500" dirty="0">
                <a:solidFill>
                  <a:srgbClr val="5A6385"/>
                </a:solidFill>
                <a:latin typeface="Calibri" pitchFamily="34" charset="0"/>
                <a:ea typeface="Calibri" pitchFamily="34" charset="-122"/>
                <a:cs typeface="Calibri" pitchFamily="34" charset="-120"/>
              </a:rPr>
              <a:t>Who is unhappy right now?</a:t>
            </a:r>
            <a:endParaRPr lang="en-US" sz="1500" dirty="0"/>
          </a:p>
        </p:txBody>
      </p:sp>
      <p:sp>
        <p:nvSpPr>
          <p:cNvPr id="24" name="pill-Negative"/>
          <p:cNvSpPr/>
          <p:nvPr/>
        </p:nvSpPr>
        <p:spPr>
          <a:xfrm>
            <a:off x="10058400" y="5074920"/>
            <a:ext cx="1280160" cy="365760"/>
          </a:xfrm>
          <a:prstGeom prst="roundRect">
            <a:avLst>
              <a:gd name="adj" fmla="val 50000"/>
            </a:avLst>
          </a:prstGeom>
          <a:solidFill>
            <a:srgbClr val="D93A57"/>
          </a:solidFill>
          <a:ln w="12700">
            <a:solidFill>
              <a:srgbClr val="D93A57"/>
            </a:solidFill>
            <a:prstDash val="solid"/>
          </a:ln>
        </p:spPr>
      </p:sp>
      <p:sp>
        <p:nvSpPr>
          <p:cNvPr id="25" name="Text 20"/>
          <p:cNvSpPr txBox="1"/>
          <p:nvPr/>
        </p:nvSpPr>
        <p:spPr>
          <a:xfrm>
            <a:off x="10058400" y="5074920"/>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Negative</a:t>
            </a:r>
            <a:endParaRPr lang="en-US" sz="14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640080" y="411480"/>
            <a:ext cx="1091153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mbria" pitchFamily="34" charset="0"/>
                <a:ea typeface="Cambria" pitchFamily="34" charset="-122"/>
                <a:cs typeface="Cambria" pitchFamily="34" charset="-120"/>
              </a:rPr>
              <a:t>One sentence in, one verdict out</a:t>
            </a:r>
            <a:endParaRPr lang="en-US" sz="3600" dirty="0"/>
          </a:p>
        </p:txBody>
      </p:sp>
      <p:sp>
        <p:nvSpPr>
          <p:cNvPr id="3" name="card"/>
          <p:cNvSpPr/>
          <p:nvPr/>
        </p:nvSpPr>
        <p:spPr>
          <a:xfrm>
            <a:off x="640080" y="1737360"/>
            <a:ext cx="5486400" cy="2926080"/>
          </a:xfrm>
          <a:prstGeom prst="roundRect">
            <a:avLst>
              <a:gd name="adj" fmla="val 4375"/>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4" name="Text 2"/>
          <p:cNvSpPr txBox="1"/>
          <p:nvPr/>
        </p:nvSpPr>
        <p:spPr>
          <a:xfrm>
            <a:off x="1005840" y="1965960"/>
            <a:ext cx="4572000" cy="320040"/>
          </a:xfrm>
          <a:prstGeom prst="rect">
            <a:avLst/>
          </a:prstGeom>
          <a:noFill/>
          <a:ln/>
        </p:spPr>
        <p:txBody>
          <a:bodyPr wrap="square" lIns="0" tIns="0" rIns="0" bIns="0" rtlCol="0" anchor="t"/>
          <a:lstStyle/>
          <a:p>
            <a:pPr indent="0" marL="0">
              <a:buNone/>
            </a:pPr>
            <a:r>
              <a:rPr lang="en-US" sz="1400" b="1" dirty="0">
                <a:solidFill>
                  <a:srgbClr val="5A6385"/>
                </a:solidFill>
                <a:latin typeface="Calibri" pitchFamily="34" charset="0"/>
                <a:ea typeface="Calibri" pitchFamily="34" charset="-122"/>
                <a:cs typeface="Calibri" pitchFamily="34" charset="-120"/>
              </a:rPr>
              <a:t>Input (illustrative example)</a:t>
            </a:r>
            <a:endParaRPr lang="en-US" sz="1400" dirty="0"/>
          </a:p>
        </p:txBody>
      </p:sp>
      <p:sp>
        <p:nvSpPr>
          <p:cNvPr id="5" name="Text 3"/>
          <p:cNvSpPr txBox="1"/>
          <p:nvPr/>
        </p:nvSpPr>
        <p:spPr>
          <a:xfrm>
            <a:off x="1005840" y="2468880"/>
            <a:ext cx="4754880" cy="1463040"/>
          </a:xfrm>
          <a:prstGeom prst="rect">
            <a:avLst/>
          </a:prstGeom>
          <a:noFill/>
          <a:ln/>
        </p:spPr>
        <p:txBody>
          <a:bodyPr wrap="square" lIns="0" tIns="0" rIns="0" bIns="0" rtlCol="0" anchor="t"/>
          <a:lstStyle/>
          <a:p>
            <a:pPr indent="0" marL="0">
              <a:buNone/>
            </a:pPr>
            <a:r>
              <a:rPr lang="en-US" sz="2800" i="1" dirty="0">
                <a:solidFill>
                  <a:srgbClr val="0E1330"/>
                </a:solidFill>
                <a:latin typeface="Cambria" pitchFamily="34" charset="0"/>
                <a:ea typeface="Cambria" pitchFamily="34" charset="-122"/>
                <a:cs typeface="Cambria" pitchFamily="34" charset="-120"/>
              </a:rPr>
              <a:t>“The delivery was fast and the quality is amazing.”</a:t>
            </a:r>
            <a:endParaRPr lang="en-US" sz="2800" dirty="0"/>
          </a:p>
        </p:txBody>
      </p:sp>
      <p:sp>
        <p:nvSpPr>
          <p:cNvPr id="6" name="arrow"/>
          <p:cNvSpPr/>
          <p:nvPr/>
        </p:nvSpPr>
        <p:spPr>
          <a:xfrm>
            <a:off x="6400800" y="2926080"/>
            <a:ext cx="914400" cy="548640"/>
          </a:xfrm>
          <a:prstGeom prst="rightArrow">
            <a:avLst/>
          </a:prstGeom>
          <a:solidFill>
            <a:srgbClr val="5B4BE0"/>
          </a:solidFill>
          <a:ln w="12700">
            <a:solidFill>
              <a:srgbClr val="5B4BE0"/>
            </a:solidFill>
            <a:prstDash val="solid"/>
          </a:ln>
        </p:spPr>
      </p:sp>
      <p:sp>
        <p:nvSpPr>
          <p:cNvPr id="7" name="card"/>
          <p:cNvSpPr/>
          <p:nvPr/>
        </p:nvSpPr>
        <p:spPr>
          <a:xfrm>
            <a:off x="7589520" y="1737360"/>
            <a:ext cx="3977640" cy="868680"/>
          </a:xfrm>
          <a:prstGeom prst="roundRect">
            <a:avLst>
              <a:gd name="adj" fmla="val 14737"/>
            </a:avLst>
          </a:prstGeom>
          <a:solidFill>
            <a:srgbClr val="E6F7F0"/>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8" name="icon-bg"/>
          <p:cNvSpPr/>
          <p:nvPr/>
        </p:nvSpPr>
        <p:spPr>
          <a:xfrm>
            <a:off x="7818120" y="1874520"/>
            <a:ext cx="594360" cy="594360"/>
          </a:xfrm>
          <a:prstGeom prst="ellipse">
            <a:avLst/>
          </a:prstGeom>
          <a:solidFill>
            <a:srgbClr val="0B9E65"/>
          </a:solidFill>
          <a:ln w="12700">
            <a:solidFill>
              <a:srgbClr val="0B9E65"/>
            </a:solidFill>
            <a:prstDash val="solid"/>
          </a:ln>
        </p:spPr>
      </p:sp>
      <p:pic>
        <p:nvPicPr>
          <p:cNvPr id="9" name="Image 0" descr="Smile icon">    </p:cNvPr>
          <p:cNvPicPr>
            <a:picLocks noChangeAspect="1"/>
          </p:cNvPicPr>
          <p:nvPr/>
        </p:nvPicPr>
        <p:blipFill>
          <a:blip r:embed="rId1"/>
          <a:stretch>
            <a:fillRect/>
          </a:stretch>
        </p:blipFill>
        <p:spPr>
          <a:xfrm>
            <a:off x="7966710" y="2023110"/>
            <a:ext cx="297180" cy="297180"/>
          </a:xfrm>
          <a:prstGeom prst="rect">
            <a:avLst/>
          </a:prstGeom>
        </p:spPr>
      </p:pic>
      <p:sp>
        <p:nvSpPr>
          <p:cNvPr id="10" name="Text 7"/>
          <p:cNvSpPr txBox="1"/>
          <p:nvPr/>
        </p:nvSpPr>
        <p:spPr>
          <a:xfrm>
            <a:off x="8595360" y="1938528"/>
            <a:ext cx="1828800" cy="457200"/>
          </a:xfrm>
          <a:prstGeom prst="rect">
            <a:avLst/>
          </a:prstGeom>
          <a:noFill/>
          <a:ln/>
        </p:spPr>
        <p:txBody>
          <a:bodyPr wrap="square" lIns="0" tIns="0" rIns="0" bIns="0" rtlCol="0" anchor="t"/>
          <a:lstStyle/>
          <a:p>
            <a:pPr indent="0" marL="0">
              <a:buNone/>
            </a:pPr>
            <a:r>
              <a:rPr lang="en-US" sz="2200" b="1" dirty="0">
                <a:solidFill>
                  <a:srgbClr val="0B9E65"/>
                </a:solidFill>
                <a:latin typeface="Calibri" pitchFamily="34" charset="0"/>
                <a:ea typeface="Calibri" pitchFamily="34" charset="-122"/>
                <a:cs typeface="Calibri" pitchFamily="34" charset="-120"/>
              </a:rPr>
              <a:t>Positive</a:t>
            </a:r>
            <a:endParaRPr lang="en-US" sz="2200" dirty="0"/>
          </a:p>
        </p:txBody>
      </p:sp>
      <p:sp>
        <p:nvSpPr>
          <p:cNvPr id="11" name="Text 8"/>
          <p:cNvSpPr txBox="1"/>
          <p:nvPr/>
        </p:nvSpPr>
        <p:spPr>
          <a:xfrm>
            <a:off x="10241280" y="2011680"/>
            <a:ext cx="1188720" cy="365760"/>
          </a:xfrm>
          <a:prstGeom prst="rect">
            <a:avLst/>
          </a:prstGeom>
          <a:noFill/>
          <a:ln/>
        </p:spPr>
        <p:txBody>
          <a:bodyPr wrap="square" lIns="0" tIns="0" rIns="0" bIns="0" rtlCol="0" anchor="t"/>
          <a:lstStyle/>
          <a:p>
            <a:pPr algn="r" indent="0" marL="0">
              <a:buNone/>
            </a:pPr>
            <a:r>
              <a:rPr lang="en-US" sz="1400" b="1" dirty="0">
                <a:solidFill>
                  <a:srgbClr val="0B9E65"/>
                </a:solidFill>
                <a:latin typeface="Calibri" pitchFamily="34" charset="0"/>
                <a:ea typeface="Calibri" pitchFamily="34" charset="-122"/>
                <a:cs typeface="Calibri" pitchFamily="34" charset="-120"/>
              </a:rPr>
              <a:t>Predicted</a:t>
            </a:r>
            <a:endParaRPr lang="en-US" sz="1400" dirty="0"/>
          </a:p>
        </p:txBody>
      </p:sp>
      <p:sp>
        <p:nvSpPr>
          <p:cNvPr id="12" name="card"/>
          <p:cNvSpPr/>
          <p:nvPr/>
        </p:nvSpPr>
        <p:spPr>
          <a:xfrm>
            <a:off x="7589520" y="2761488"/>
            <a:ext cx="3977640" cy="868680"/>
          </a:xfrm>
          <a:prstGeom prst="roundRect">
            <a:avLst>
              <a:gd name="adj" fmla="val 14737"/>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3" name="icon-bg"/>
          <p:cNvSpPr/>
          <p:nvPr/>
        </p:nvSpPr>
        <p:spPr>
          <a:xfrm>
            <a:off x="7818120" y="2898648"/>
            <a:ext cx="594360" cy="594360"/>
          </a:xfrm>
          <a:prstGeom prst="ellipse">
            <a:avLst/>
          </a:prstGeom>
          <a:solidFill>
            <a:srgbClr val="E8A317"/>
          </a:solidFill>
          <a:ln w="12700">
            <a:solidFill>
              <a:srgbClr val="E8A317"/>
            </a:solidFill>
            <a:prstDash val="solid"/>
          </a:ln>
        </p:spPr>
      </p:sp>
      <p:pic>
        <p:nvPicPr>
          <p:cNvPr id="14" name="Image 1" descr="Meh icon">    </p:cNvPr>
          <p:cNvPicPr>
            <a:picLocks noChangeAspect="1"/>
          </p:cNvPicPr>
          <p:nvPr/>
        </p:nvPicPr>
        <p:blipFill>
          <a:blip r:embed="rId2"/>
          <a:stretch>
            <a:fillRect/>
          </a:stretch>
        </p:blipFill>
        <p:spPr>
          <a:xfrm>
            <a:off x="7966710" y="3047238"/>
            <a:ext cx="297180" cy="297180"/>
          </a:xfrm>
          <a:prstGeom prst="rect">
            <a:avLst/>
          </a:prstGeom>
        </p:spPr>
      </p:pic>
      <p:sp>
        <p:nvSpPr>
          <p:cNvPr id="15" name="Text 11"/>
          <p:cNvSpPr txBox="1"/>
          <p:nvPr/>
        </p:nvSpPr>
        <p:spPr>
          <a:xfrm>
            <a:off x="8595360" y="2962656"/>
            <a:ext cx="1828800" cy="457200"/>
          </a:xfrm>
          <a:prstGeom prst="rect">
            <a:avLst/>
          </a:prstGeom>
          <a:noFill/>
          <a:ln/>
        </p:spPr>
        <p:txBody>
          <a:bodyPr wrap="square" lIns="0" tIns="0" rIns="0" bIns="0" rtlCol="0" anchor="t"/>
          <a:lstStyle/>
          <a:p>
            <a:pPr indent="0" marL="0">
              <a:buNone/>
            </a:pPr>
            <a:r>
              <a:rPr lang="en-US" sz="2200" b="1" dirty="0">
                <a:solidFill>
                  <a:srgbClr val="0E1330"/>
                </a:solidFill>
                <a:latin typeface="Calibri" pitchFamily="34" charset="0"/>
                <a:ea typeface="Calibri" pitchFamily="34" charset="-122"/>
                <a:cs typeface="Calibri" pitchFamily="34" charset="-120"/>
              </a:rPr>
              <a:t>Neutral</a:t>
            </a:r>
            <a:endParaRPr lang="en-US" sz="2200" dirty="0"/>
          </a:p>
        </p:txBody>
      </p:sp>
      <p:sp>
        <p:nvSpPr>
          <p:cNvPr id="16" name="Text 12"/>
          <p:cNvSpPr txBox="1"/>
          <p:nvPr/>
        </p:nvSpPr>
        <p:spPr>
          <a:xfrm>
            <a:off x="10241280" y="3035808"/>
            <a:ext cx="1188720" cy="365760"/>
          </a:xfrm>
          <a:prstGeom prst="rect">
            <a:avLst/>
          </a:prstGeom>
          <a:noFill/>
          <a:ln/>
        </p:spPr>
        <p:txBody>
          <a:bodyPr wrap="square" lIns="0" tIns="0" rIns="0" bIns="0" rtlCol="0" anchor="t"/>
          <a:lstStyle/>
          <a:p>
            <a:pPr algn="r" indent="0" marL="0">
              <a:buNone/>
            </a:pPr>
            <a:endParaRPr lang="en-US" sz="1400" dirty="0"/>
          </a:p>
        </p:txBody>
      </p:sp>
      <p:sp>
        <p:nvSpPr>
          <p:cNvPr id="17" name="card"/>
          <p:cNvSpPr/>
          <p:nvPr/>
        </p:nvSpPr>
        <p:spPr>
          <a:xfrm>
            <a:off x="7589520" y="3785616"/>
            <a:ext cx="3977640" cy="868680"/>
          </a:xfrm>
          <a:prstGeom prst="roundRect">
            <a:avLst>
              <a:gd name="adj" fmla="val 14737"/>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8" name="icon-bg"/>
          <p:cNvSpPr/>
          <p:nvPr/>
        </p:nvSpPr>
        <p:spPr>
          <a:xfrm>
            <a:off x="7818120" y="3922776"/>
            <a:ext cx="594360" cy="594360"/>
          </a:xfrm>
          <a:prstGeom prst="ellipse">
            <a:avLst/>
          </a:prstGeom>
          <a:solidFill>
            <a:srgbClr val="D93A57"/>
          </a:solidFill>
          <a:ln w="12700">
            <a:solidFill>
              <a:srgbClr val="D93A57"/>
            </a:solidFill>
            <a:prstDash val="solid"/>
          </a:ln>
        </p:spPr>
      </p:sp>
      <p:pic>
        <p:nvPicPr>
          <p:cNvPr id="19" name="Image 2" descr="Frown icon">    </p:cNvPr>
          <p:cNvPicPr>
            <a:picLocks noChangeAspect="1"/>
          </p:cNvPicPr>
          <p:nvPr/>
        </p:nvPicPr>
        <p:blipFill>
          <a:blip r:embed="rId3"/>
          <a:stretch>
            <a:fillRect/>
          </a:stretch>
        </p:blipFill>
        <p:spPr>
          <a:xfrm>
            <a:off x="7966710" y="4071366"/>
            <a:ext cx="297180" cy="297180"/>
          </a:xfrm>
          <a:prstGeom prst="rect">
            <a:avLst/>
          </a:prstGeom>
        </p:spPr>
      </p:pic>
      <p:sp>
        <p:nvSpPr>
          <p:cNvPr id="20" name="Text 15"/>
          <p:cNvSpPr txBox="1"/>
          <p:nvPr/>
        </p:nvSpPr>
        <p:spPr>
          <a:xfrm>
            <a:off x="8595360" y="3986784"/>
            <a:ext cx="1828800" cy="457200"/>
          </a:xfrm>
          <a:prstGeom prst="rect">
            <a:avLst/>
          </a:prstGeom>
          <a:noFill/>
          <a:ln/>
        </p:spPr>
        <p:txBody>
          <a:bodyPr wrap="square" lIns="0" tIns="0" rIns="0" bIns="0" rtlCol="0" anchor="t"/>
          <a:lstStyle/>
          <a:p>
            <a:pPr indent="0" marL="0">
              <a:buNone/>
            </a:pPr>
            <a:r>
              <a:rPr lang="en-US" sz="2200" b="1" dirty="0">
                <a:solidFill>
                  <a:srgbClr val="0E1330"/>
                </a:solidFill>
                <a:latin typeface="Calibri" pitchFamily="34" charset="0"/>
                <a:ea typeface="Calibri" pitchFamily="34" charset="-122"/>
                <a:cs typeface="Calibri" pitchFamily="34" charset="-120"/>
              </a:rPr>
              <a:t>Negative</a:t>
            </a:r>
            <a:endParaRPr lang="en-US" sz="2200" dirty="0"/>
          </a:p>
        </p:txBody>
      </p:sp>
      <p:sp>
        <p:nvSpPr>
          <p:cNvPr id="21" name="Text 16"/>
          <p:cNvSpPr txBox="1"/>
          <p:nvPr/>
        </p:nvSpPr>
        <p:spPr>
          <a:xfrm>
            <a:off x="10241280" y="4059936"/>
            <a:ext cx="1188720" cy="365760"/>
          </a:xfrm>
          <a:prstGeom prst="rect">
            <a:avLst/>
          </a:prstGeom>
          <a:noFill/>
          <a:ln/>
        </p:spPr>
        <p:txBody>
          <a:bodyPr wrap="square" lIns="0" tIns="0" rIns="0" bIns="0" rtlCol="0" anchor="t"/>
          <a:lstStyle/>
          <a:p>
            <a:pPr algn="r" indent="0" marL="0">
              <a:buNone/>
            </a:pPr>
            <a:endParaRPr lang="en-US" sz="1400" dirty="0"/>
          </a:p>
        </p:txBody>
      </p:sp>
      <p:sp>
        <p:nvSpPr>
          <p:cNvPr id="22" name="Text 17"/>
          <p:cNvSpPr txBox="1"/>
          <p:nvPr/>
        </p:nvSpPr>
        <p:spPr>
          <a:xfrm>
            <a:off x="640080" y="5120640"/>
            <a:ext cx="10881360" cy="731520"/>
          </a:xfrm>
          <a:prstGeom prst="rect">
            <a:avLst/>
          </a:prstGeom>
          <a:noFill/>
          <a:ln/>
        </p:spPr>
        <p:txBody>
          <a:bodyPr wrap="square" lIns="0" tIns="0" rIns="0" bIns="0" rtlCol="0" anchor="t"/>
          <a:lstStyle/>
          <a:p>
            <a:pPr indent="0" marL="0">
              <a:buNone/>
            </a:pPr>
            <a:r>
              <a:rPr lang="en-US" sz="1800" dirty="0">
                <a:solidFill>
                  <a:srgbClr val="3B4468"/>
                </a:solidFill>
                <a:latin typeface="Calibri" pitchFamily="34" charset="0"/>
                <a:ea typeface="Calibri" pitchFamily="34" charset="-122"/>
                <a:cs typeface="Calibri" pitchFamily="34" charset="-120"/>
              </a:rPr>
              <a:t>Sentra also shows the confidence for each class and highlights the words that influenced the decision.</a:t>
            </a:r>
            <a:endParaRPr lang="en-US" sz="18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640080" y="411480"/>
            <a:ext cx="1091153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mbria" pitchFamily="34" charset="0"/>
                <a:ea typeface="Cambria" pitchFamily="34" charset="-122"/>
                <a:cs typeface="Cambria" pitchFamily="34" charset="-120"/>
              </a:rPr>
              <a:t>How the pieces fit together</a:t>
            </a:r>
            <a:endParaRPr lang="en-US" sz="3600" dirty="0"/>
          </a:p>
        </p:txBody>
      </p:sp>
      <p:sp>
        <p:nvSpPr>
          <p:cNvPr id="3" name="box-Browser"/>
          <p:cNvSpPr/>
          <p:nvPr/>
        </p:nvSpPr>
        <p:spPr>
          <a:xfrm>
            <a:off x="640080" y="1691640"/>
            <a:ext cx="3383280" cy="1371600"/>
          </a:xfrm>
          <a:prstGeom prst="roundRect">
            <a:avLst>
              <a:gd name="adj" fmla="val 9333"/>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4" name="icon-bg"/>
          <p:cNvSpPr/>
          <p:nvPr/>
        </p:nvSpPr>
        <p:spPr>
          <a:xfrm>
            <a:off x="914400" y="1965960"/>
            <a:ext cx="640080" cy="640080"/>
          </a:xfrm>
          <a:prstGeom prst="ellipse">
            <a:avLst/>
          </a:prstGeom>
          <a:solidFill>
            <a:srgbClr val="5B4BE0"/>
          </a:solidFill>
          <a:ln w="12700">
            <a:solidFill>
              <a:srgbClr val="5B4BE0"/>
            </a:solidFill>
            <a:prstDash val="solid"/>
          </a:ln>
        </p:spPr>
      </p:sp>
      <p:pic>
        <p:nvPicPr>
          <p:cNvPr id="5" name="Image 0" descr="Globe icon">    </p:cNvPr>
          <p:cNvPicPr>
            <a:picLocks noChangeAspect="1"/>
          </p:cNvPicPr>
          <p:nvPr/>
        </p:nvPicPr>
        <p:blipFill>
          <a:blip r:embed="rId1"/>
          <a:stretch>
            <a:fillRect/>
          </a:stretch>
        </p:blipFill>
        <p:spPr>
          <a:xfrm>
            <a:off x="1074420" y="2125980"/>
            <a:ext cx="320040" cy="320040"/>
          </a:xfrm>
          <a:prstGeom prst="rect">
            <a:avLst/>
          </a:prstGeom>
        </p:spPr>
      </p:pic>
      <p:sp>
        <p:nvSpPr>
          <p:cNvPr id="6" name="Text 3"/>
          <p:cNvSpPr txBox="1"/>
          <p:nvPr/>
        </p:nvSpPr>
        <p:spPr>
          <a:xfrm>
            <a:off x="1737360" y="1965960"/>
            <a:ext cx="2103120" cy="365760"/>
          </a:xfrm>
          <a:prstGeom prst="rect">
            <a:avLst/>
          </a:prstGeom>
          <a:noFill/>
          <a:ln/>
        </p:spPr>
        <p:txBody>
          <a:bodyPr wrap="square" lIns="0" tIns="0" rIns="0" bIns="0" rtlCol="0" anchor="t"/>
          <a:lstStyle/>
          <a:p>
            <a:pPr indent="0" marL="0">
              <a:buNone/>
            </a:pPr>
            <a:r>
              <a:rPr lang="en-US" sz="1800" b="1" dirty="0">
                <a:solidFill>
                  <a:srgbClr val="0E1330"/>
                </a:solidFill>
                <a:latin typeface="Calibri" pitchFamily="34" charset="0"/>
                <a:ea typeface="Calibri" pitchFamily="34" charset="-122"/>
                <a:cs typeface="Calibri" pitchFamily="34" charset="-120"/>
              </a:rPr>
              <a:t>Browser</a:t>
            </a:r>
            <a:endParaRPr lang="en-US" sz="1800" dirty="0"/>
          </a:p>
        </p:txBody>
      </p:sp>
      <p:sp>
        <p:nvSpPr>
          <p:cNvPr id="7" name="Text 4"/>
          <p:cNvSpPr txBox="1"/>
          <p:nvPr/>
        </p:nvSpPr>
        <p:spPr>
          <a:xfrm>
            <a:off x="1737360" y="2350008"/>
            <a:ext cx="2103120" cy="548640"/>
          </a:xfrm>
          <a:prstGeom prst="rect">
            <a:avLst/>
          </a:prstGeom>
          <a:noFill/>
          <a:ln/>
        </p:spPr>
        <p:txBody>
          <a:bodyPr wrap="square" lIns="0" tIns="0" rIns="0" bIns="0" rtlCol="0" anchor="t"/>
          <a:lstStyle/>
          <a:p>
            <a:pPr indent="0" marL="0">
              <a:buNone/>
            </a:pPr>
            <a:r>
              <a:rPr lang="en-US" sz="1400" dirty="0">
                <a:solidFill>
                  <a:srgbClr val="5A6385"/>
                </a:solidFill>
                <a:latin typeface="Calibri" pitchFamily="34" charset="0"/>
                <a:ea typeface="Calibri" pitchFamily="34" charset="-122"/>
                <a:cs typeface="Calibri" pitchFamily="34" charset="-120"/>
              </a:rPr>
              <a:t>HTML, CSS and JavaScript frontend</a:t>
            </a:r>
            <a:endParaRPr lang="en-US" sz="1400" dirty="0"/>
          </a:p>
        </p:txBody>
      </p:sp>
      <p:sp>
        <p:nvSpPr>
          <p:cNvPr id="8" name="box-Flask API"/>
          <p:cNvSpPr/>
          <p:nvPr/>
        </p:nvSpPr>
        <p:spPr>
          <a:xfrm>
            <a:off x="4617720" y="1691640"/>
            <a:ext cx="3383280" cy="1371600"/>
          </a:xfrm>
          <a:prstGeom prst="roundRect">
            <a:avLst>
              <a:gd name="adj" fmla="val 9333"/>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9" name="icon-bg"/>
          <p:cNvSpPr/>
          <p:nvPr/>
        </p:nvSpPr>
        <p:spPr>
          <a:xfrm>
            <a:off x="4892040" y="1965960"/>
            <a:ext cx="640080" cy="640080"/>
          </a:xfrm>
          <a:prstGeom prst="ellipse">
            <a:avLst/>
          </a:prstGeom>
          <a:solidFill>
            <a:srgbClr val="1B2250"/>
          </a:solidFill>
          <a:ln w="12700">
            <a:solidFill>
              <a:srgbClr val="1B2250"/>
            </a:solidFill>
            <a:prstDash val="solid"/>
          </a:ln>
        </p:spPr>
      </p:sp>
      <p:pic>
        <p:nvPicPr>
          <p:cNvPr id="10" name="Image 1" descr="Server icon">    </p:cNvPr>
          <p:cNvPicPr>
            <a:picLocks noChangeAspect="1"/>
          </p:cNvPicPr>
          <p:nvPr/>
        </p:nvPicPr>
        <p:blipFill>
          <a:blip r:embed="rId2"/>
          <a:stretch>
            <a:fillRect/>
          </a:stretch>
        </p:blipFill>
        <p:spPr>
          <a:xfrm>
            <a:off x="5052060" y="2125980"/>
            <a:ext cx="320040" cy="320040"/>
          </a:xfrm>
          <a:prstGeom prst="rect">
            <a:avLst/>
          </a:prstGeom>
        </p:spPr>
      </p:pic>
      <p:sp>
        <p:nvSpPr>
          <p:cNvPr id="11" name="Text 7"/>
          <p:cNvSpPr txBox="1"/>
          <p:nvPr/>
        </p:nvSpPr>
        <p:spPr>
          <a:xfrm>
            <a:off x="5715000" y="1965960"/>
            <a:ext cx="2103120" cy="365760"/>
          </a:xfrm>
          <a:prstGeom prst="rect">
            <a:avLst/>
          </a:prstGeom>
          <a:noFill/>
          <a:ln/>
        </p:spPr>
        <p:txBody>
          <a:bodyPr wrap="square" lIns="0" tIns="0" rIns="0" bIns="0" rtlCol="0" anchor="t"/>
          <a:lstStyle/>
          <a:p>
            <a:pPr indent="0" marL="0">
              <a:buNone/>
            </a:pPr>
            <a:r>
              <a:rPr lang="en-US" sz="1800" b="1" dirty="0">
                <a:solidFill>
                  <a:srgbClr val="0E1330"/>
                </a:solidFill>
                <a:latin typeface="Calibri" pitchFamily="34" charset="0"/>
                <a:ea typeface="Calibri" pitchFamily="34" charset="-122"/>
                <a:cs typeface="Calibri" pitchFamily="34" charset="-120"/>
              </a:rPr>
              <a:t>Flask API</a:t>
            </a:r>
            <a:endParaRPr lang="en-US" sz="1800" dirty="0"/>
          </a:p>
        </p:txBody>
      </p:sp>
      <p:sp>
        <p:nvSpPr>
          <p:cNvPr id="12" name="Text 8"/>
          <p:cNvSpPr txBox="1"/>
          <p:nvPr/>
        </p:nvSpPr>
        <p:spPr>
          <a:xfrm>
            <a:off x="5715000" y="2350008"/>
            <a:ext cx="2103120" cy="548640"/>
          </a:xfrm>
          <a:prstGeom prst="rect">
            <a:avLst/>
          </a:prstGeom>
          <a:noFill/>
          <a:ln/>
        </p:spPr>
        <p:txBody>
          <a:bodyPr wrap="square" lIns="0" tIns="0" rIns="0" bIns="0" rtlCol="0" anchor="t"/>
          <a:lstStyle/>
          <a:p>
            <a:pPr indent="0" marL="0">
              <a:buNone/>
            </a:pPr>
            <a:r>
              <a:rPr lang="en-US" sz="1400" dirty="0">
                <a:solidFill>
                  <a:srgbClr val="5A6385"/>
                </a:solidFill>
                <a:latin typeface="Calibri" pitchFamily="34" charset="0"/>
                <a:ea typeface="Calibri" pitchFamily="34" charset="-122"/>
                <a:cs typeface="Calibri" pitchFamily="34" charset="-120"/>
              </a:rPr>
              <a:t>Validates, cleans and predicts</a:t>
            </a:r>
            <a:endParaRPr lang="en-US" sz="1400" dirty="0"/>
          </a:p>
        </p:txBody>
      </p:sp>
      <p:sp>
        <p:nvSpPr>
          <p:cNvPr id="13" name="box-ML model"/>
          <p:cNvSpPr/>
          <p:nvPr/>
        </p:nvSpPr>
        <p:spPr>
          <a:xfrm>
            <a:off x="8503920" y="1691640"/>
            <a:ext cx="3063240" cy="1371600"/>
          </a:xfrm>
          <a:prstGeom prst="roundRect">
            <a:avLst>
              <a:gd name="adj" fmla="val 9333"/>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4" name="icon-bg"/>
          <p:cNvSpPr/>
          <p:nvPr/>
        </p:nvSpPr>
        <p:spPr>
          <a:xfrm>
            <a:off x="8778240" y="1965960"/>
            <a:ext cx="640080" cy="640080"/>
          </a:xfrm>
          <a:prstGeom prst="ellipse">
            <a:avLst/>
          </a:prstGeom>
          <a:solidFill>
            <a:srgbClr val="0B9E65"/>
          </a:solidFill>
          <a:ln w="12700">
            <a:solidFill>
              <a:srgbClr val="0B9E65"/>
            </a:solidFill>
            <a:prstDash val="solid"/>
          </a:ln>
        </p:spPr>
      </p:sp>
      <p:pic>
        <p:nvPicPr>
          <p:cNvPr id="15" name="Image 2" descr="Brain icon">    </p:cNvPr>
          <p:cNvPicPr>
            <a:picLocks noChangeAspect="1"/>
          </p:cNvPicPr>
          <p:nvPr/>
        </p:nvPicPr>
        <p:blipFill>
          <a:blip r:embed="rId3"/>
          <a:stretch>
            <a:fillRect/>
          </a:stretch>
        </p:blipFill>
        <p:spPr>
          <a:xfrm>
            <a:off x="8938260" y="2125980"/>
            <a:ext cx="320040" cy="320040"/>
          </a:xfrm>
          <a:prstGeom prst="rect">
            <a:avLst/>
          </a:prstGeom>
        </p:spPr>
      </p:pic>
      <p:sp>
        <p:nvSpPr>
          <p:cNvPr id="16" name="Text 11"/>
          <p:cNvSpPr txBox="1"/>
          <p:nvPr/>
        </p:nvSpPr>
        <p:spPr>
          <a:xfrm>
            <a:off x="9601200" y="1965960"/>
            <a:ext cx="1783080" cy="365760"/>
          </a:xfrm>
          <a:prstGeom prst="rect">
            <a:avLst/>
          </a:prstGeom>
          <a:noFill/>
          <a:ln/>
        </p:spPr>
        <p:txBody>
          <a:bodyPr wrap="square" lIns="0" tIns="0" rIns="0" bIns="0" rtlCol="0" anchor="t"/>
          <a:lstStyle/>
          <a:p>
            <a:pPr indent="0" marL="0">
              <a:buNone/>
            </a:pPr>
            <a:r>
              <a:rPr lang="en-US" sz="1800" b="1" dirty="0">
                <a:solidFill>
                  <a:srgbClr val="0E1330"/>
                </a:solidFill>
                <a:latin typeface="Calibri" pitchFamily="34" charset="0"/>
                <a:ea typeface="Calibri" pitchFamily="34" charset="-122"/>
                <a:cs typeface="Calibri" pitchFamily="34" charset="-120"/>
              </a:rPr>
              <a:t>ML model</a:t>
            </a:r>
            <a:endParaRPr lang="en-US" sz="1800" dirty="0"/>
          </a:p>
        </p:txBody>
      </p:sp>
      <p:sp>
        <p:nvSpPr>
          <p:cNvPr id="17" name="Text 12"/>
          <p:cNvSpPr txBox="1"/>
          <p:nvPr/>
        </p:nvSpPr>
        <p:spPr>
          <a:xfrm>
            <a:off x="9601200" y="2350008"/>
            <a:ext cx="1783080" cy="548640"/>
          </a:xfrm>
          <a:prstGeom prst="rect">
            <a:avLst/>
          </a:prstGeom>
          <a:noFill/>
          <a:ln/>
        </p:spPr>
        <p:txBody>
          <a:bodyPr wrap="square" lIns="0" tIns="0" rIns="0" bIns="0" rtlCol="0" anchor="t"/>
          <a:lstStyle/>
          <a:p>
            <a:pPr indent="0" marL="0">
              <a:buNone/>
            </a:pPr>
            <a:r>
              <a:rPr lang="en-US" sz="1400" dirty="0">
                <a:solidFill>
                  <a:srgbClr val="5A6385"/>
                </a:solidFill>
                <a:latin typeface="Calibri" pitchFamily="34" charset="0"/>
                <a:ea typeface="Calibri" pitchFamily="34" charset="-122"/>
                <a:cs typeface="Calibri" pitchFamily="34" charset="-120"/>
              </a:rPr>
              <a:t>TF-IDF + classifier (joblib)</a:t>
            </a:r>
            <a:endParaRPr lang="en-US" sz="1400" dirty="0"/>
          </a:p>
        </p:txBody>
      </p:sp>
      <p:sp>
        <p:nvSpPr>
          <p:cNvPr id="18" name="box-Firebase"/>
          <p:cNvSpPr/>
          <p:nvPr/>
        </p:nvSpPr>
        <p:spPr>
          <a:xfrm>
            <a:off x="640080" y="4069080"/>
            <a:ext cx="3383280" cy="1371600"/>
          </a:xfrm>
          <a:prstGeom prst="roundRect">
            <a:avLst>
              <a:gd name="adj" fmla="val 9333"/>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9" name="icon-bg"/>
          <p:cNvSpPr/>
          <p:nvPr/>
        </p:nvSpPr>
        <p:spPr>
          <a:xfrm>
            <a:off x="914400" y="4343400"/>
            <a:ext cx="640080" cy="640080"/>
          </a:xfrm>
          <a:prstGeom prst="ellipse">
            <a:avLst/>
          </a:prstGeom>
          <a:solidFill>
            <a:srgbClr val="E8A317"/>
          </a:solidFill>
          <a:ln w="12700">
            <a:solidFill>
              <a:srgbClr val="E8A317"/>
            </a:solidFill>
            <a:prstDash val="solid"/>
          </a:ln>
        </p:spPr>
      </p:sp>
      <p:pic>
        <p:nvPicPr>
          <p:cNvPr id="20" name="Image 3" descr="Lock icon">    </p:cNvPr>
          <p:cNvPicPr>
            <a:picLocks noChangeAspect="1"/>
          </p:cNvPicPr>
          <p:nvPr/>
        </p:nvPicPr>
        <p:blipFill>
          <a:blip r:embed="rId4"/>
          <a:stretch>
            <a:fillRect/>
          </a:stretch>
        </p:blipFill>
        <p:spPr>
          <a:xfrm>
            <a:off x="1074420" y="4503420"/>
            <a:ext cx="320040" cy="320040"/>
          </a:xfrm>
          <a:prstGeom prst="rect">
            <a:avLst/>
          </a:prstGeom>
        </p:spPr>
      </p:pic>
      <p:sp>
        <p:nvSpPr>
          <p:cNvPr id="21" name="Text 15"/>
          <p:cNvSpPr txBox="1"/>
          <p:nvPr/>
        </p:nvSpPr>
        <p:spPr>
          <a:xfrm>
            <a:off x="1737360" y="4343400"/>
            <a:ext cx="2103120" cy="365760"/>
          </a:xfrm>
          <a:prstGeom prst="rect">
            <a:avLst/>
          </a:prstGeom>
          <a:noFill/>
          <a:ln/>
        </p:spPr>
        <p:txBody>
          <a:bodyPr wrap="square" lIns="0" tIns="0" rIns="0" bIns="0" rtlCol="0" anchor="t"/>
          <a:lstStyle/>
          <a:p>
            <a:pPr indent="0" marL="0">
              <a:buNone/>
            </a:pPr>
            <a:r>
              <a:rPr lang="en-US" sz="1800" b="1" dirty="0">
                <a:solidFill>
                  <a:srgbClr val="0E1330"/>
                </a:solidFill>
                <a:latin typeface="Calibri" pitchFamily="34" charset="0"/>
                <a:ea typeface="Calibri" pitchFamily="34" charset="-122"/>
                <a:cs typeface="Calibri" pitchFamily="34" charset="-120"/>
              </a:rPr>
              <a:t>Firebase</a:t>
            </a:r>
            <a:endParaRPr lang="en-US" sz="1800" dirty="0"/>
          </a:p>
        </p:txBody>
      </p:sp>
      <p:sp>
        <p:nvSpPr>
          <p:cNvPr id="22" name="Text 16"/>
          <p:cNvSpPr txBox="1"/>
          <p:nvPr/>
        </p:nvSpPr>
        <p:spPr>
          <a:xfrm>
            <a:off x="1737360" y="4727448"/>
            <a:ext cx="2103120" cy="548640"/>
          </a:xfrm>
          <a:prstGeom prst="rect">
            <a:avLst/>
          </a:prstGeom>
          <a:noFill/>
          <a:ln/>
        </p:spPr>
        <p:txBody>
          <a:bodyPr wrap="square" lIns="0" tIns="0" rIns="0" bIns="0" rtlCol="0" anchor="t"/>
          <a:lstStyle/>
          <a:p>
            <a:pPr indent="0" marL="0">
              <a:buNone/>
            </a:pPr>
            <a:r>
              <a:rPr lang="en-US" sz="1400" dirty="0">
                <a:solidFill>
                  <a:srgbClr val="5A6385"/>
                </a:solidFill>
                <a:latin typeface="Calibri" pitchFamily="34" charset="0"/>
                <a:ea typeface="Calibri" pitchFamily="34" charset="-122"/>
                <a:cs typeface="Calibri" pitchFamily="34" charset="-120"/>
              </a:rPr>
              <a:t>Sign-in (Auth) and private history (Firestore)</a:t>
            </a:r>
            <a:endParaRPr lang="en-US" sz="1400" dirty="0"/>
          </a:p>
        </p:txBody>
      </p:sp>
      <p:sp>
        <p:nvSpPr>
          <p:cNvPr id="23" name="connector"/>
          <p:cNvSpPr/>
          <p:nvPr/>
        </p:nvSpPr>
        <p:spPr>
          <a:xfrm>
            <a:off x="4023360" y="2377440"/>
            <a:ext cx="594360" cy="0"/>
          </a:xfrm>
          <a:prstGeom prst="line">
            <a:avLst/>
          </a:prstGeom>
          <a:noFill/>
          <a:ln w="28575">
            <a:solidFill>
              <a:srgbClr val="5B4BE0"/>
            </a:solidFill>
            <a:prstDash val="solid"/>
            <a:tailEnd type="triangle"/>
          </a:ln>
        </p:spPr>
      </p:sp>
      <p:sp>
        <p:nvSpPr>
          <p:cNvPr id="24" name="connector"/>
          <p:cNvSpPr/>
          <p:nvPr/>
        </p:nvSpPr>
        <p:spPr>
          <a:xfrm>
            <a:off x="8001000" y="2377440"/>
            <a:ext cx="502920" cy="0"/>
          </a:xfrm>
          <a:prstGeom prst="line">
            <a:avLst/>
          </a:prstGeom>
          <a:noFill/>
          <a:ln w="28575">
            <a:solidFill>
              <a:srgbClr val="5B4BE0"/>
            </a:solidFill>
            <a:prstDash val="solid"/>
            <a:tailEnd type="triangle"/>
          </a:ln>
        </p:spPr>
      </p:sp>
      <p:sp>
        <p:nvSpPr>
          <p:cNvPr id="25" name="connector"/>
          <p:cNvSpPr/>
          <p:nvPr/>
        </p:nvSpPr>
        <p:spPr>
          <a:xfrm flipV="1">
            <a:off x="2331720" y="3063240"/>
            <a:ext cx="0" cy="1005840"/>
          </a:xfrm>
          <a:prstGeom prst="line">
            <a:avLst/>
          </a:prstGeom>
          <a:noFill/>
          <a:ln w="28575">
            <a:solidFill>
              <a:srgbClr val="5B4BE0"/>
            </a:solidFill>
            <a:prstDash val="solid"/>
            <a:tailEnd type="triangle"/>
          </a:ln>
        </p:spPr>
      </p:sp>
      <p:sp>
        <p:nvSpPr>
          <p:cNvPr id="26" name="Text 20"/>
          <p:cNvSpPr txBox="1"/>
          <p:nvPr/>
        </p:nvSpPr>
        <p:spPr>
          <a:xfrm>
            <a:off x="4617720" y="4114800"/>
            <a:ext cx="6949440" cy="1371600"/>
          </a:xfrm>
          <a:prstGeom prst="rect">
            <a:avLst/>
          </a:prstGeom>
          <a:noFill/>
          <a:ln/>
        </p:spPr>
        <p:txBody>
          <a:bodyPr wrap="square" lIns="0" tIns="0" rIns="0" bIns="0" rtlCol="0" anchor="t"/>
          <a:lstStyle/>
          <a:p>
            <a:pPr indent="0" marL="0">
              <a:spcAft>
                <a:spcPts val="1200"/>
              </a:spcAft>
              <a:buNone/>
            </a:pPr>
            <a:r>
              <a:rPr lang="en-US" sz="1700" dirty="0">
                <a:solidFill>
                  <a:srgbClr val="3B4468"/>
                </a:solidFill>
                <a:latin typeface="Calibri" pitchFamily="34" charset="0"/>
                <a:ea typeface="Calibri" pitchFamily="34" charset="-122"/>
                <a:cs typeface="Calibri" pitchFamily="34" charset="-120"/>
              </a:rPr>
              <a:t>Firebase is called straight from the browser, so the Python backend holds no secret keys.</a:t>
            </a:r>
            <a:endParaRPr lang="en-US" sz="1700" dirty="0"/>
          </a:p>
          <a:p>
            <a:pPr indent="0" marL="0">
              <a:spcAft>
                <a:spcPts val="1200"/>
              </a:spcAft>
              <a:buNone/>
            </a:pPr>
            <a:r>
              <a:rPr lang="en-US" sz="1700" dirty="0">
                <a:solidFill>
                  <a:srgbClr val="3B4468"/>
                </a:solidFill>
                <a:latin typeface="Calibri" pitchFamily="34" charset="0"/>
                <a:ea typeface="Calibri" pitchFamily="34" charset="-122"/>
                <a:cs typeface="Calibri" pitchFamily="34" charset="-120"/>
              </a:rPr>
              <a:t>Hosted on Vercel: frontend and API share one domain, so there are no CORS problems.</a:t>
            </a:r>
            <a:endParaRPr lang="en-US" sz="17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640080" y="411480"/>
            <a:ext cx="1091153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mbria" pitchFamily="34" charset="0"/>
                <a:ea typeface="Cambria" pitchFamily="34" charset="-122"/>
                <a:cs typeface="Cambria" pitchFamily="34" charset="-120"/>
              </a:rPr>
              <a:t>From raw text to a trained model</a:t>
            </a:r>
            <a:endParaRPr lang="en-US" sz="3600" dirty="0"/>
          </a:p>
        </p:txBody>
      </p:sp>
      <p:sp>
        <p:nvSpPr>
          <p:cNvPr id="3" name="card"/>
          <p:cNvSpPr/>
          <p:nvPr/>
        </p:nvSpPr>
        <p:spPr>
          <a:xfrm>
            <a:off x="640080" y="1828800"/>
            <a:ext cx="2011680" cy="3108960"/>
          </a:xfrm>
          <a:prstGeom prst="roundRect">
            <a:avLst>
              <a:gd name="adj" fmla="val 6364"/>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4" name="icon-bg"/>
          <p:cNvSpPr/>
          <p:nvPr/>
        </p:nvSpPr>
        <p:spPr>
          <a:xfrm>
            <a:off x="1280160" y="2103120"/>
            <a:ext cx="731520" cy="731520"/>
          </a:xfrm>
          <a:prstGeom prst="ellipse">
            <a:avLst/>
          </a:prstGeom>
          <a:solidFill>
            <a:srgbClr val="5B4BE0"/>
          </a:solidFill>
          <a:ln w="12700">
            <a:solidFill>
              <a:srgbClr val="5B4BE0"/>
            </a:solidFill>
            <a:prstDash val="solid"/>
          </a:ln>
        </p:spPr>
      </p:sp>
      <p:pic>
        <p:nvPicPr>
          <p:cNvPr id="5" name="Image 0" descr="Database icon">    </p:cNvPr>
          <p:cNvPicPr>
            <a:picLocks noChangeAspect="1"/>
          </p:cNvPicPr>
          <p:nvPr/>
        </p:nvPicPr>
        <p:blipFill>
          <a:blip r:embed="rId1"/>
          <a:stretch>
            <a:fillRect/>
          </a:stretch>
        </p:blipFill>
        <p:spPr>
          <a:xfrm>
            <a:off x="1463040" y="2286000"/>
            <a:ext cx="365760" cy="365760"/>
          </a:xfrm>
          <a:prstGeom prst="rect">
            <a:avLst/>
          </a:prstGeom>
        </p:spPr>
      </p:pic>
      <p:sp>
        <p:nvSpPr>
          <p:cNvPr id="6" name="Text 3"/>
          <p:cNvSpPr txBox="1"/>
          <p:nvPr/>
        </p:nvSpPr>
        <p:spPr>
          <a:xfrm>
            <a:off x="822960" y="3063240"/>
            <a:ext cx="1645920" cy="411480"/>
          </a:xfrm>
          <a:prstGeom prst="rect">
            <a:avLst/>
          </a:prstGeom>
          <a:noFill/>
          <a:ln/>
        </p:spPr>
        <p:txBody>
          <a:bodyPr wrap="square" lIns="0" tIns="0" rIns="0" bIns="0" rtlCol="0" anchor="t"/>
          <a:lstStyle/>
          <a:p>
            <a:pPr algn="ctr" indent="0" marL="0">
              <a:buNone/>
            </a:pPr>
            <a:r>
              <a:rPr lang="en-US" sz="2000" b="1" dirty="0">
                <a:solidFill>
                  <a:srgbClr val="0E1330"/>
                </a:solidFill>
                <a:latin typeface="Calibri" pitchFamily="34" charset="0"/>
                <a:ea typeface="Calibri" pitchFamily="34" charset="-122"/>
                <a:cs typeface="Calibri" pitchFamily="34" charset="-120"/>
              </a:rPr>
              <a:t>1. Dataset</a:t>
            </a:r>
            <a:endParaRPr lang="en-US" sz="2000" dirty="0"/>
          </a:p>
        </p:txBody>
      </p:sp>
      <p:sp>
        <p:nvSpPr>
          <p:cNvPr id="7" name="Text 4"/>
          <p:cNvSpPr txBox="1"/>
          <p:nvPr/>
        </p:nvSpPr>
        <p:spPr>
          <a:xfrm>
            <a:off x="868680" y="3566160"/>
            <a:ext cx="1554480" cy="1188720"/>
          </a:xfrm>
          <a:prstGeom prst="rect">
            <a:avLst/>
          </a:prstGeom>
          <a:noFill/>
          <a:ln/>
        </p:spPr>
        <p:txBody>
          <a:bodyPr wrap="square" lIns="0" tIns="0" rIns="0" bIns="0" rtlCol="0" anchor="t"/>
          <a:lstStyle/>
          <a:p>
            <a:pPr algn="ctr" indent="0" marL="0">
              <a:buNone/>
            </a:pPr>
            <a:r>
              <a:rPr lang="en-US" sz="1500" dirty="0">
                <a:solidFill>
                  <a:srgbClr val="3B4468"/>
                </a:solidFill>
                <a:latin typeface="Calibri" pitchFamily="34" charset="0"/>
                <a:ea typeface="Calibri" pitchFamily="34" charset="-122"/>
                <a:cs typeface="Calibri" pitchFamily="34" charset="-120"/>
              </a:rPr>
              <a:t>TweetEval sentiment with fixed splits</a:t>
            </a:r>
            <a:endParaRPr lang="en-US" sz="1500" dirty="0"/>
          </a:p>
        </p:txBody>
      </p:sp>
      <p:sp>
        <p:nvSpPr>
          <p:cNvPr id="8" name="card"/>
          <p:cNvSpPr/>
          <p:nvPr/>
        </p:nvSpPr>
        <p:spPr>
          <a:xfrm>
            <a:off x="2857500" y="1828800"/>
            <a:ext cx="2011680" cy="3108960"/>
          </a:xfrm>
          <a:prstGeom prst="roundRect">
            <a:avLst>
              <a:gd name="adj" fmla="val 6364"/>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9" name="icon-bg"/>
          <p:cNvSpPr/>
          <p:nvPr/>
        </p:nvSpPr>
        <p:spPr>
          <a:xfrm>
            <a:off x="3497580" y="2103120"/>
            <a:ext cx="731520" cy="731520"/>
          </a:xfrm>
          <a:prstGeom prst="ellipse">
            <a:avLst/>
          </a:prstGeom>
          <a:solidFill>
            <a:srgbClr val="5B4BE0"/>
          </a:solidFill>
          <a:ln w="12700">
            <a:solidFill>
              <a:srgbClr val="5B4BE0"/>
            </a:solidFill>
            <a:prstDash val="solid"/>
          </a:ln>
        </p:spPr>
      </p:sp>
      <p:pic>
        <p:nvPicPr>
          <p:cNvPr id="10" name="Image 1" descr="Broom icon">    </p:cNvPr>
          <p:cNvPicPr>
            <a:picLocks noChangeAspect="1"/>
          </p:cNvPicPr>
          <p:nvPr/>
        </p:nvPicPr>
        <p:blipFill>
          <a:blip r:embed="rId2"/>
          <a:stretch>
            <a:fillRect/>
          </a:stretch>
        </p:blipFill>
        <p:spPr>
          <a:xfrm>
            <a:off x="3680460" y="2286000"/>
            <a:ext cx="365760" cy="365760"/>
          </a:xfrm>
          <a:prstGeom prst="rect">
            <a:avLst/>
          </a:prstGeom>
        </p:spPr>
      </p:pic>
      <p:sp>
        <p:nvSpPr>
          <p:cNvPr id="11" name="Text 7"/>
          <p:cNvSpPr txBox="1"/>
          <p:nvPr/>
        </p:nvSpPr>
        <p:spPr>
          <a:xfrm>
            <a:off x="3040380" y="3063240"/>
            <a:ext cx="1645920" cy="411480"/>
          </a:xfrm>
          <a:prstGeom prst="rect">
            <a:avLst/>
          </a:prstGeom>
          <a:noFill/>
          <a:ln/>
        </p:spPr>
        <p:txBody>
          <a:bodyPr wrap="square" lIns="0" tIns="0" rIns="0" bIns="0" rtlCol="0" anchor="t"/>
          <a:lstStyle/>
          <a:p>
            <a:pPr algn="ctr" indent="0" marL="0">
              <a:buNone/>
            </a:pPr>
            <a:r>
              <a:rPr lang="en-US" sz="2000" b="1" dirty="0">
                <a:solidFill>
                  <a:srgbClr val="0E1330"/>
                </a:solidFill>
                <a:latin typeface="Calibri" pitchFamily="34" charset="0"/>
                <a:ea typeface="Calibri" pitchFamily="34" charset="-122"/>
                <a:cs typeface="Calibri" pitchFamily="34" charset="-120"/>
              </a:rPr>
              <a:t>2. Clean</a:t>
            </a:r>
            <a:endParaRPr lang="en-US" sz="2000" dirty="0"/>
          </a:p>
        </p:txBody>
      </p:sp>
      <p:sp>
        <p:nvSpPr>
          <p:cNvPr id="12" name="Text 8"/>
          <p:cNvSpPr txBox="1"/>
          <p:nvPr/>
        </p:nvSpPr>
        <p:spPr>
          <a:xfrm>
            <a:off x="3086100" y="3566160"/>
            <a:ext cx="1554480" cy="1188720"/>
          </a:xfrm>
          <a:prstGeom prst="rect">
            <a:avLst/>
          </a:prstGeom>
          <a:noFill/>
          <a:ln/>
        </p:spPr>
        <p:txBody>
          <a:bodyPr wrap="square" lIns="0" tIns="0" rIns="0" bIns="0" rtlCol="0" anchor="t"/>
          <a:lstStyle/>
          <a:p>
            <a:pPr algn="ctr" indent="0" marL="0">
              <a:buNone/>
            </a:pPr>
            <a:r>
              <a:rPr lang="en-US" sz="1500" dirty="0">
                <a:solidFill>
                  <a:srgbClr val="3B4468"/>
                </a:solidFill>
                <a:latin typeface="Calibri" pitchFamily="34" charset="0"/>
                <a:ea typeface="Calibri" pitchFamily="34" charset="-122"/>
                <a:cs typeface="Calibri" pitchFamily="34" charset="-120"/>
              </a:rPr>
              <a:t>Lowercase, links, mentions; keep “not”</a:t>
            </a:r>
            <a:endParaRPr lang="en-US" sz="1500" dirty="0"/>
          </a:p>
        </p:txBody>
      </p:sp>
      <p:sp>
        <p:nvSpPr>
          <p:cNvPr id="13" name="card"/>
          <p:cNvSpPr/>
          <p:nvPr/>
        </p:nvSpPr>
        <p:spPr>
          <a:xfrm>
            <a:off x="5074920" y="1828800"/>
            <a:ext cx="2011680" cy="3108960"/>
          </a:xfrm>
          <a:prstGeom prst="roundRect">
            <a:avLst>
              <a:gd name="adj" fmla="val 6364"/>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4" name="icon-bg"/>
          <p:cNvSpPr/>
          <p:nvPr/>
        </p:nvSpPr>
        <p:spPr>
          <a:xfrm>
            <a:off x="5715000" y="2103120"/>
            <a:ext cx="731520" cy="731520"/>
          </a:xfrm>
          <a:prstGeom prst="ellipse">
            <a:avLst/>
          </a:prstGeom>
          <a:solidFill>
            <a:srgbClr val="5B4BE0"/>
          </a:solidFill>
          <a:ln w="12700">
            <a:solidFill>
              <a:srgbClr val="5B4BE0"/>
            </a:solidFill>
            <a:prstDash val="solid"/>
          </a:ln>
        </p:spPr>
      </p:sp>
      <p:pic>
        <p:nvPicPr>
          <p:cNvPr id="15" name="Image 2" descr="ProjectDiagram icon">    </p:cNvPr>
          <p:cNvPicPr>
            <a:picLocks noChangeAspect="1"/>
          </p:cNvPicPr>
          <p:nvPr/>
        </p:nvPicPr>
        <p:blipFill>
          <a:blip r:embed="rId3"/>
          <a:stretch>
            <a:fillRect/>
          </a:stretch>
        </p:blipFill>
        <p:spPr>
          <a:xfrm>
            <a:off x="5897880" y="2286000"/>
            <a:ext cx="365760" cy="365760"/>
          </a:xfrm>
          <a:prstGeom prst="rect">
            <a:avLst/>
          </a:prstGeom>
        </p:spPr>
      </p:pic>
      <p:sp>
        <p:nvSpPr>
          <p:cNvPr id="16" name="Text 11"/>
          <p:cNvSpPr txBox="1"/>
          <p:nvPr/>
        </p:nvSpPr>
        <p:spPr>
          <a:xfrm>
            <a:off x="5257800" y="3063240"/>
            <a:ext cx="1645920" cy="411480"/>
          </a:xfrm>
          <a:prstGeom prst="rect">
            <a:avLst/>
          </a:prstGeom>
          <a:noFill/>
          <a:ln/>
        </p:spPr>
        <p:txBody>
          <a:bodyPr wrap="square" lIns="0" tIns="0" rIns="0" bIns="0" rtlCol="0" anchor="t"/>
          <a:lstStyle/>
          <a:p>
            <a:pPr algn="ctr" indent="0" marL="0">
              <a:buNone/>
            </a:pPr>
            <a:r>
              <a:rPr lang="en-US" sz="2000" b="1" dirty="0">
                <a:solidFill>
                  <a:srgbClr val="0E1330"/>
                </a:solidFill>
                <a:latin typeface="Calibri" pitchFamily="34" charset="0"/>
                <a:ea typeface="Calibri" pitchFamily="34" charset="-122"/>
                <a:cs typeface="Calibri" pitchFamily="34" charset="-120"/>
              </a:rPr>
              <a:t>3. TF-IDF</a:t>
            </a:r>
            <a:endParaRPr lang="en-US" sz="2000" dirty="0"/>
          </a:p>
        </p:txBody>
      </p:sp>
      <p:sp>
        <p:nvSpPr>
          <p:cNvPr id="17" name="Text 12"/>
          <p:cNvSpPr txBox="1"/>
          <p:nvPr/>
        </p:nvSpPr>
        <p:spPr>
          <a:xfrm>
            <a:off x="5303520" y="3566160"/>
            <a:ext cx="1554480" cy="1188720"/>
          </a:xfrm>
          <a:prstGeom prst="rect">
            <a:avLst/>
          </a:prstGeom>
          <a:noFill/>
          <a:ln/>
        </p:spPr>
        <p:txBody>
          <a:bodyPr wrap="square" lIns="0" tIns="0" rIns="0" bIns="0" rtlCol="0" anchor="t"/>
          <a:lstStyle/>
          <a:p>
            <a:pPr algn="ctr" indent="0" marL="0">
              <a:buNone/>
            </a:pPr>
            <a:r>
              <a:rPr lang="en-US" sz="1500" dirty="0">
                <a:solidFill>
                  <a:srgbClr val="3B4468"/>
                </a:solidFill>
                <a:latin typeface="Calibri" pitchFamily="34" charset="0"/>
                <a:ea typeface="Calibri" pitchFamily="34" charset="-122"/>
                <a:cs typeface="Calibri" pitchFamily="34" charset="-120"/>
              </a:rPr>
              <a:t>Word and word-pair features</a:t>
            </a:r>
            <a:endParaRPr lang="en-US" sz="1500" dirty="0"/>
          </a:p>
        </p:txBody>
      </p:sp>
      <p:sp>
        <p:nvSpPr>
          <p:cNvPr id="18" name="card"/>
          <p:cNvSpPr/>
          <p:nvPr/>
        </p:nvSpPr>
        <p:spPr>
          <a:xfrm>
            <a:off x="7292340" y="1828800"/>
            <a:ext cx="2011680" cy="3108960"/>
          </a:xfrm>
          <a:prstGeom prst="roundRect">
            <a:avLst>
              <a:gd name="adj" fmla="val 6364"/>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9" name="icon-bg"/>
          <p:cNvSpPr/>
          <p:nvPr/>
        </p:nvSpPr>
        <p:spPr>
          <a:xfrm>
            <a:off x="7932420" y="2103120"/>
            <a:ext cx="731520" cy="731520"/>
          </a:xfrm>
          <a:prstGeom prst="ellipse">
            <a:avLst/>
          </a:prstGeom>
          <a:solidFill>
            <a:srgbClr val="0B9E65"/>
          </a:solidFill>
          <a:ln w="12700">
            <a:solidFill>
              <a:srgbClr val="0B9E65"/>
            </a:solidFill>
            <a:prstDash val="solid"/>
          </a:ln>
        </p:spPr>
      </p:sp>
      <p:pic>
        <p:nvPicPr>
          <p:cNvPr id="20" name="Image 3" descr="Brain icon">    </p:cNvPr>
          <p:cNvPicPr>
            <a:picLocks noChangeAspect="1"/>
          </p:cNvPicPr>
          <p:nvPr/>
        </p:nvPicPr>
        <p:blipFill>
          <a:blip r:embed="rId4"/>
          <a:stretch>
            <a:fillRect/>
          </a:stretch>
        </p:blipFill>
        <p:spPr>
          <a:xfrm>
            <a:off x="8115300" y="2286000"/>
            <a:ext cx="365760" cy="365760"/>
          </a:xfrm>
          <a:prstGeom prst="rect">
            <a:avLst/>
          </a:prstGeom>
        </p:spPr>
      </p:pic>
      <p:sp>
        <p:nvSpPr>
          <p:cNvPr id="21" name="Text 15"/>
          <p:cNvSpPr txBox="1"/>
          <p:nvPr/>
        </p:nvSpPr>
        <p:spPr>
          <a:xfrm>
            <a:off x="7475220" y="3063240"/>
            <a:ext cx="1645920" cy="411480"/>
          </a:xfrm>
          <a:prstGeom prst="rect">
            <a:avLst/>
          </a:prstGeom>
          <a:noFill/>
          <a:ln/>
        </p:spPr>
        <p:txBody>
          <a:bodyPr wrap="square" lIns="0" tIns="0" rIns="0" bIns="0" rtlCol="0" anchor="t"/>
          <a:lstStyle/>
          <a:p>
            <a:pPr algn="ctr" indent="0" marL="0">
              <a:buNone/>
            </a:pPr>
            <a:r>
              <a:rPr lang="en-US" sz="2000" b="1" dirty="0">
                <a:solidFill>
                  <a:srgbClr val="0E1330"/>
                </a:solidFill>
                <a:latin typeface="Calibri" pitchFamily="34" charset="0"/>
                <a:ea typeface="Calibri" pitchFamily="34" charset="-122"/>
                <a:cs typeface="Calibri" pitchFamily="34" charset="-120"/>
              </a:rPr>
              <a:t>4. Classify</a:t>
            </a:r>
            <a:endParaRPr lang="en-US" sz="2000" dirty="0"/>
          </a:p>
        </p:txBody>
      </p:sp>
      <p:sp>
        <p:nvSpPr>
          <p:cNvPr id="22" name="Text 16"/>
          <p:cNvSpPr txBox="1"/>
          <p:nvPr/>
        </p:nvSpPr>
        <p:spPr>
          <a:xfrm>
            <a:off x="7520940" y="3566160"/>
            <a:ext cx="1554480" cy="1188720"/>
          </a:xfrm>
          <a:prstGeom prst="rect">
            <a:avLst/>
          </a:prstGeom>
          <a:noFill/>
          <a:ln/>
        </p:spPr>
        <p:txBody>
          <a:bodyPr wrap="square" lIns="0" tIns="0" rIns="0" bIns="0" rtlCol="0" anchor="t"/>
          <a:lstStyle/>
          <a:p>
            <a:pPr algn="ctr" indent="0" marL="0">
              <a:buNone/>
            </a:pPr>
            <a:r>
              <a:rPr lang="en-US" sz="1500" dirty="0">
                <a:solidFill>
                  <a:srgbClr val="3B4468"/>
                </a:solidFill>
                <a:latin typeface="Calibri" pitchFamily="34" charset="0"/>
                <a:ea typeface="Calibri" pitchFamily="34" charset="-122"/>
                <a:cs typeface="Calibri" pitchFamily="34" charset="-120"/>
              </a:rPr>
              <a:t>Logistic Regression or Naive Bayes</a:t>
            </a:r>
            <a:endParaRPr lang="en-US" sz="1500" dirty="0"/>
          </a:p>
        </p:txBody>
      </p:sp>
      <p:sp>
        <p:nvSpPr>
          <p:cNvPr id="23" name="card"/>
          <p:cNvSpPr/>
          <p:nvPr/>
        </p:nvSpPr>
        <p:spPr>
          <a:xfrm>
            <a:off x="9509760" y="1828800"/>
            <a:ext cx="2011680" cy="3108960"/>
          </a:xfrm>
          <a:prstGeom prst="roundRect">
            <a:avLst>
              <a:gd name="adj" fmla="val 6364"/>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24" name="icon-bg"/>
          <p:cNvSpPr/>
          <p:nvPr/>
        </p:nvSpPr>
        <p:spPr>
          <a:xfrm>
            <a:off x="10149840" y="2103120"/>
            <a:ext cx="731520" cy="731520"/>
          </a:xfrm>
          <a:prstGeom prst="ellipse">
            <a:avLst/>
          </a:prstGeom>
          <a:solidFill>
            <a:srgbClr val="5B4BE0"/>
          </a:solidFill>
          <a:ln w="12700">
            <a:solidFill>
              <a:srgbClr val="5B4BE0"/>
            </a:solidFill>
            <a:prstDash val="solid"/>
          </a:ln>
        </p:spPr>
      </p:sp>
      <p:pic>
        <p:nvPicPr>
          <p:cNvPr id="25" name="Image 4" descr="ChartBar icon">    </p:cNvPr>
          <p:cNvPicPr>
            <a:picLocks noChangeAspect="1"/>
          </p:cNvPicPr>
          <p:nvPr/>
        </p:nvPicPr>
        <p:blipFill>
          <a:blip r:embed="rId5"/>
          <a:stretch>
            <a:fillRect/>
          </a:stretch>
        </p:blipFill>
        <p:spPr>
          <a:xfrm>
            <a:off x="10332720" y="2286000"/>
            <a:ext cx="365760" cy="365760"/>
          </a:xfrm>
          <a:prstGeom prst="rect">
            <a:avLst/>
          </a:prstGeom>
        </p:spPr>
      </p:pic>
      <p:sp>
        <p:nvSpPr>
          <p:cNvPr id="26" name="Text 19"/>
          <p:cNvSpPr txBox="1"/>
          <p:nvPr/>
        </p:nvSpPr>
        <p:spPr>
          <a:xfrm>
            <a:off x="9692640" y="3063240"/>
            <a:ext cx="1645920" cy="411480"/>
          </a:xfrm>
          <a:prstGeom prst="rect">
            <a:avLst/>
          </a:prstGeom>
          <a:noFill/>
          <a:ln/>
        </p:spPr>
        <p:txBody>
          <a:bodyPr wrap="square" lIns="0" tIns="0" rIns="0" bIns="0" rtlCol="0" anchor="t"/>
          <a:lstStyle/>
          <a:p>
            <a:pPr algn="ctr" indent="0" marL="0">
              <a:buNone/>
            </a:pPr>
            <a:r>
              <a:rPr lang="en-US" sz="2000" b="1" dirty="0">
                <a:solidFill>
                  <a:srgbClr val="0E1330"/>
                </a:solidFill>
                <a:latin typeface="Calibri" pitchFamily="34" charset="0"/>
                <a:ea typeface="Calibri" pitchFamily="34" charset="-122"/>
                <a:cs typeface="Calibri" pitchFamily="34" charset="-120"/>
              </a:rPr>
              <a:t>5. Evaluate</a:t>
            </a:r>
            <a:endParaRPr lang="en-US" sz="2000" dirty="0"/>
          </a:p>
        </p:txBody>
      </p:sp>
      <p:sp>
        <p:nvSpPr>
          <p:cNvPr id="27" name="Text 20"/>
          <p:cNvSpPr txBox="1"/>
          <p:nvPr/>
        </p:nvSpPr>
        <p:spPr>
          <a:xfrm>
            <a:off x="9738360" y="3566160"/>
            <a:ext cx="1554480" cy="1188720"/>
          </a:xfrm>
          <a:prstGeom prst="rect">
            <a:avLst/>
          </a:prstGeom>
          <a:noFill/>
          <a:ln/>
        </p:spPr>
        <p:txBody>
          <a:bodyPr wrap="square" lIns="0" tIns="0" rIns="0" bIns="0" rtlCol="0" anchor="t"/>
          <a:lstStyle/>
          <a:p>
            <a:pPr algn="ctr" indent="0" marL="0">
              <a:buNone/>
            </a:pPr>
            <a:r>
              <a:rPr lang="en-US" sz="1500" dirty="0">
                <a:solidFill>
                  <a:srgbClr val="3B4468"/>
                </a:solidFill>
                <a:latin typeface="Calibri" pitchFamily="34" charset="0"/>
                <a:ea typeface="Calibri" pitchFamily="34" charset="-122"/>
                <a:cs typeface="Calibri" pitchFamily="34" charset="-120"/>
              </a:rPr>
              <a:t>Held-out test set, once</a:t>
            </a:r>
            <a:endParaRPr lang="en-US" sz="1500" dirty="0"/>
          </a:p>
        </p:txBody>
      </p:sp>
      <p:sp>
        <p:nvSpPr>
          <p:cNvPr id="28" name="Text 21"/>
          <p:cNvSpPr txBox="1"/>
          <p:nvPr/>
        </p:nvSpPr>
        <p:spPr>
          <a:xfrm>
            <a:off x="640080" y="5349240"/>
            <a:ext cx="10881360" cy="457200"/>
          </a:xfrm>
          <a:prstGeom prst="rect">
            <a:avLst/>
          </a:prstGeom>
          <a:noFill/>
          <a:ln/>
        </p:spPr>
        <p:txBody>
          <a:bodyPr wrap="square" lIns="0" tIns="0" rIns="0" bIns="0" rtlCol="0" anchor="t"/>
          <a:lstStyle/>
          <a:p>
            <a:pPr indent="0" marL="0">
              <a:buNone/>
            </a:pPr>
            <a:r>
              <a:rPr lang="en-US" sz="1800" b="1" dirty="0">
                <a:solidFill>
                  <a:srgbClr val="5B4BE0"/>
                </a:solidFill>
                <a:latin typeface="Calibri" pitchFamily="34" charset="0"/>
                <a:ea typeface="Calibri" pitchFamily="34" charset="-122"/>
                <a:cs typeface="Calibri" pitchFamily="34" charset="-120"/>
              </a:rPr>
              <a:t>Vectorizer and model are fitted on training data only, so test results are honest.</a:t>
            </a:r>
            <a:endParaRPr lang="en-US" sz="18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640080" y="411480"/>
            <a:ext cx="1091153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mbria" pitchFamily="34" charset="0"/>
                <a:ea typeface="Cambria" pitchFamily="34" charset="-122"/>
                <a:cs typeface="Cambria" pitchFamily="34" charset="-120"/>
              </a:rPr>
              <a:t>Dataset and text preparation</a:t>
            </a:r>
            <a:endParaRPr lang="en-US" sz="3600" dirty="0"/>
          </a:p>
        </p:txBody>
      </p:sp>
      <p:sp>
        <p:nvSpPr>
          <p:cNvPr id="3" name="card"/>
          <p:cNvSpPr/>
          <p:nvPr/>
        </p:nvSpPr>
        <p:spPr>
          <a:xfrm>
            <a:off x="640080" y="1691640"/>
            <a:ext cx="5120640" cy="4206240"/>
          </a:xfrm>
          <a:prstGeom prst="roundRect">
            <a:avLst>
              <a:gd name="adj" fmla="val 3043"/>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4" name="Text 2"/>
          <p:cNvSpPr txBox="1"/>
          <p:nvPr/>
        </p:nvSpPr>
        <p:spPr>
          <a:xfrm>
            <a:off x="1005840" y="1920240"/>
            <a:ext cx="4389120" cy="457200"/>
          </a:xfrm>
          <a:prstGeom prst="rect">
            <a:avLst/>
          </a:prstGeom>
          <a:noFill/>
          <a:ln/>
        </p:spPr>
        <p:txBody>
          <a:bodyPr wrap="square" lIns="0" tIns="0" rIns="0" bIns="0" rtlCol="0" anchor="t"/>
          <a:lstStyle/>
          <a:p>
            <a:pPr indent="0" marL="0">
              <a:buNone/>
            </a:pPr>
            <a:r>
              <a:rPr lang="en-US" sz="2400" b="1" dirty="0">
                <a:solidFill>
                  <a:srgbClr val="0E1330"/>
                </a:solidFill>
                <a:latin typeface="Cambria" pitchFamily="34" charset="0"/>
                <a:ea typeface="Cambria" pitchFamily="34" charset="-122"/>
                <a:cs typeface="Cambria" pitchFamily="34" charset="-120"/>
              </a:rPr>
              <a:t>Dataset</a:t>
            </a:r>
            <a:endParaRPr lang="en-US" sz="2400" dirty="0"/>
          </a:p>
        </p:txBody>
      </p:sp>
      <p:sp>
        <p:nvSpPr>
          <p:cNvPr id="5" name="Text 3"/>
          <p:cNvSpPr txBox="1"/>
          <p:nvPr/>
        </p:nvSpPr>
        <p:spPr>
          <a:xfrm>
            <a:off x="1005840" y="2560320"/>
            <a:ext cx="4389120" cy="3017520"/>
          </a:xfrm>
          <a:prstGeom prst="rect">
            <a:avLst/>
          </a:prstGeom>
          <a:noFill/>
          <a:ln/>
        </p:spPr>
        <p:txBody>
          <a:bodyPr wrap="square" lIns="0" tIns="0" rIns="0" bIns="0" rtlCol="0" anchor="t"/>
          <a:lstStyle/>
          <a:p>
            <a:pPr indent="0" marL="0">
              <a:spcAft>
                <a:spcPts val="1000"/>
              </a:spcAft>
              <a:buNone/>
            </a:pPr>
            <a:r>
              <a:rPr lang="en-US" sz="1600" b="1" dirty="0">
                <a:solidFill>
                  <a:srgbClr val="3B4468"/>
                </a:solidFill>
                <a:latin typeface="Calibri" pitchFamily="34" charset="0"/>
                <a:ea typeface="Calibri" pitchFamily="34" charset="-122"/>
                <a:cs typeface="Calibri" pitchFamily="34" charset="-120"/>
              </a:rPr>
              <a:t>TweetEval: Sentiment</a:t>
            </a:r>
            <a:endParaRPr lang="en-US" sz="1600" dirty="0"/>
          </a:p>
          <a:p>
            <a:pPr indent="0" marL="0">
              <a:spcAft>
                <a:spcPts val="1000"/>
              </a:spcAft>
              <a:buNone/>
            </a:pPr>
            <a:r>
              <a:rPr lang="en-US" sz="1600" dirty="0">
                <a:solidFill>
                  <a:srgbClr val="3B4468"/>
                </a:solidFill>
                <a:latin typeface="Calibri" pitchFamily="34" charset="0"/>
                <a:ea typeface="Calibri" pitchFamily="34" charset="-122"/>
                <a:cs typeface="Calibri" pitchFamily="34" charset="-120"/>
              </a:rPr>
              <a:t>SemEval-2017 Task 4, published by Cardiff NLP on Hugging Face</a:t>
            </a:r>
            <a:endParaRPr lang="en-US" sz="1600" dirty="0"/>
          </a:p>
          <a:p>
            <a:pPr indent="0" marL="0">
              <a:spcAft>
                <a:spcPts val="1000"/>
              </a:spcAft>
              <a:buNone/>
            </a:pPr>
            <a:r>
              <a:rPr lang="en-US" sz="1600" dirty="0">
                <a:solidFill>
                  <a:srgbClr val="3B4468"/>
                </a:solidFill>
                <a:latin typeface="Calibri" pitchFamily="34" charset="0"/>
                <a:ea typeface="Calibri" pitchFamily="34" charset="-122"/>
                <a:cs typeface="Calibri" pitchFamily="34" charset="-120"/>
              </a:rPr>
              <a:t>Three classes: Negative, Neutral, Positive</a:t>
            </a:r>
            <a:endParaRPr lang="en-US" sz="1600" dirty="0"/>
          </a:p>
          <a:p>
            <a:pPr indent="0" marL="0">
              <a:spcAft>
                <a:spcPts val="1000"/>
              </a:spcAft>
              <a:buNone/>
            </a:pPr>
            <a:r>
              <a:rPr lang="en-US" sz="1600" dirty="0">
                <a:solidFill>
                  <a:srgbClr val="3B4468"/>
                </a:solidFill>
                <a:latin typeface="Calibri" pitchFamily="34" charset="0"/>
                <a:ea typeface="Calibri" pitchFamily="34" charset="-122"/>
                <a:cs typeface="Calibri" pitchFamily="34" charset="-120"/>
              </a:rPr>
              <a:t>Ready-made train, validation and test splits (about 45k, 2k and 12k texts)</a:t>
            </a:r>
            <a:endParaRPr lang="en-US" sz="1600" dirty="0"/>
          </a:p>
        </p:txBody>
      </p:sp>
      <p:sp>
        <p:nvSpPr>
          <p:cNvPr id="6" name="card"/>
          <p:cNvSpPr/>
          <p:nvPr/>
        </p:nvSpPr>
        <p:spPr>
          <a:xfrm>
            <a:off x="6035040" y="1691640"/>
            <a:ext cx="5532120" cy="4206240"/>
          </a:xfrm>
          <a:prstGeom prst="roundRect">
            <a:avLst>
              <a:gd name="adj" fmla="val 3043"/>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7" name="Text 5"/>
          <p:cNvSpPr txBox="1"/>
          <p:nvPr/>
        </p:nvSpPr>
        <p:spPr>
          <a:xfrm>
            <a:off x="6400800" y="1920240"/>
            <a:ext cx="4572000" cy="457200"/>
          </a:xfrm>
          <a:prstGeom prst="rect">
            <a:avLst/>
          </a:prstGeom>
          <a:noFill/>
          <a:ln/>
        </p:spPr>
        <p:txBody>
          <a:bodyPr wrap="square" lIns="0" tIns="0" rIns="0" bIns="0" rtlCol="0" anchor="t"/>
          <a:lstStyle/>
          <a:p>
            <a:pPr indent="0" marL="0">
              <a:buNone/>
            </a:pPr>
            <a:r>
              <a:rPr lang="en-US" sz="2400" b="1" dirty="0">
                <a:solidFill>
                  <a:srgbClr val="0E1330"/>
                </a:solidFill>
                <a:latin typeface="Cambria" pitchFamily="34" charset="0"/>
                <a:ea typeface="Cambria" pitchFamily="34" charset="-122"/>
                <a:cs typeface="Cambria" pitchFamily="34" charset="-120"/>
              </a:rPr>
              <a:t>Cleaning rules</a:t>
            </a:r>
            <a:endParaRPr lang="en-US" sz="2400" dirty="0"/>
          </a:p>
        </p:txBody>
      </p:sp>
      <p:pic>
        <p:nvPicPr>
          <p:cNvPr id="8" name="Image 0" descr="check">    </p:cNvPr>
          <p:cNvPicPr>
            <a:picLocks noChangeAspect="1"/>
          </p:cNvPicPr>
          <p:nvPr/>
        </p:nvPicPr>
        <p:blipFill>
          <a:blip r:embed="rId1"/>
          <a:stretch>
            <a:fillRect/>
          </a:stretch>
        </p:blipFill>
        <p:spPr>
          <a:xfrm>
            <a:off x="6400800" y="2606040"/>
            <a:ext cx="310896" cy="310896"/>
          </a:xfrm>
          <a:prstGeom prst="rect">
            <a:avLst/>
          </a:prstGeom>
        </p:spPr>
      </p:pic>
      <p:sp>
        <p:nvSpPr>
          <p:cNvPr id="9" name="Text 6"/>
          <p:cNvSpPr txBox="1"/>
          <p:nvPr/>
        </p:nvSpPr>
        <p:spPr>
          <a:xfrm>
            <a:off x="6903720" y="2578608"/>
            <a:ext cx="4480560" cy="411480"/>
          </a:xfrm>
          <a:prstGeom prst="rect">
            <a:avLst/>
          </a:prstGeom>
          <a:noFill/>
          <a:ln/>
        </p:spPr>
        <p:txBody>
          <a:bodyPr wrap="square" lIns="0" tIns="0" rIns="0" bIns="0" rtlCol="0" anchor="t"/>
          <a:lstStyle/>
          <a:p>
            <a:pPr indent="0" marL="0">
              <a:buNone/>
            </a:pPr>
            <a:r>
              <a:rPr lang="en-US" sz="1600" dirty="0">
                <a:solidFill>
                  <a:srgbClr val="3B4468"/>
                </a:solidFill>
                <a:latin typeface="Calibri" pitchFamily="34" charset="0"/>
                <a:ea typeface="Calibri" pitchFamily="34" charset="-122"/>
                <a:cs typeface="Calibri" pitchFamily="34" charset="-120"/>
              </a:rPr>
              <a:t>Lowercase and normalise characters</a:t>
            </a:r>
            <a:endParaRPr lang="en-US" sz="1600" dirty="0"/>
          </a:p>
        </p:txBody>
      </p:sp>
      <p:pic>
        <p:nvPicPr>
          <p:cNvPr id="10" name="Image 1" descr="check">    </p:cNvPr>
          <p:cNvPicPr>
            <a:picLocks noChangeAspect="1"/>
          </p:cNvPicPr>
          <p:nvPr/>
        </p:nvPicPr>
        <p:blipFill>
          <a:blip r:embed="rId2"/>
          <a:stretch>
            <a:fillRect/>
          </a:stretch>
        </p:blipFill>
        <p:spPr>
          <a:xfrm>
            <a:off x="6400800" y="3227832"/>
            <a:ext cx="310896" cy="310896"/>
          </a:xfrm>
          <a:prstGeom prst="rect">
            <a:avLst/>
          </a:prstGeom>
        </p:spPr>
      </p:pic>
      <p:sp>
        <p:nvSpPr>
          <p:cNvPr id="11" name="Text 7"/>
          <p:cNvSpPr txBox="1"/>
          <p:nvPr/>
        </p:nvSpPr>
        <p:spPr>
          <a:xfrm>
            <a:off x="6903720" y="3200400"/>
            <a:ext cx="4480560" cy="411480"/>
          </a:xfrm>
          <a:prstGeom prst="rect">
            <a:avLst/>
          </a:prstGeom>
          <a:noFill/>
          <a:ln/>
        </p:spPr>
        <p:txBody>
          <a:bodyPr wrap="square" lIns="0" tIns="0" rIns="0" bIns="0" rtlCol="0" anchor="t"/>
          <a:lstStyle/>
          <a:p>
            <a:pPr indent="0" marL="0">
              <a:buNone/>
            </a:pPr>
            <a:r>
              <a:rPr lang="en-US" sz="1600" dirty="0">
                <a:solidFill>
                  <a:srgbClr val="3B4468"/>
                </a:solidFill>
                <a:latin typeface="Calibri" pitchFamily="34" charset="0"/>
                <a:ea typeface="Calibri" pitchFamily="34" charset="-122"/>
                <a:cs typeface="Calibri" pitchFamily="34" charset="-120"/>
              </a:rPr>
              <a:t>Replace links and @mentions with tokens</a:t>
            </a:r>
            <a:endParaRPr lang="en-US" sz="1600" dirty="0"/>
          </a:p>
        </p:txBody>
      </p:sp>
      <p:pic>
        <p:nvPicPr>
          <p:cNvPr id="12" name="Image 2" descr="check">    </p:cNvPr>
          <p:cNvPicPr>
            <a:picLocks noChangeAspect="1"/>
          </p:cNvPicPr>
          <p:nvPr/>
        </p:nvPicPr>
        <p:blipFill>
          <a:blip r:embed="rId3"/>
          <a:stretch>
            <a:fillRect/>
          </a:stretch>
        </p:blipFill>
        <p:spPr>
          <a:xfrm>
            <a:off x="6400800" y="3849624"/>
            <a:ext cx="310896" cy="310896"/>
          </a:xfrm>
          <a:prstGeom prst="rect">
            <a:avLst/>
          </a:prstGeom>
        </p:spPr>
      </p:pic>
      <p:sp>
        <p:nvSpPr>
          <p:cNvPr id="13" name="Text 8"/>
          <p:cNvSpPr txBox="1"/>
          <p:nvPr/>
        </p:nvSpPr>
        <p:spPr>
          <a:xfrm>
            <a:off x="6903720" y="3822192"/>
            <a:ext cx="4480560" cy="411480"/>
          </a:xfrm>
          <a:prstGeom prst="rect">
            <a:avLst/>
          </a:prstGeom>
          <a:noFill/>
          <a:ln/>
        </p:spPr>
        <p:txBody>
          <a:bodyPr wrap="square" lIns="0" tIns="0" rIns="0" bIns="0" rtlCol="0" anchor="t"/>
          <a:lstStyle/>
          <a:p>
            <a:pPr indent="0" marL="0">
              <a:buNone/>
            </a:pPr>
            <a:r>
              <a:rPr lang="en-US" sz="1600" dirty="0">
                <a:solidFill>
                  <a:srgbClr val="3B4468"/>
                </a:solidFill>
                <a:latin typeface="Calibri" pitchFamily="34" charset="0"/>
                <a:ea typeface="Calibri" pitchFamily="34" charset="-122"/>
                <a:cs typeface="Calibri" pitchFamily="34" charset="-120"/>
              </a:rPr>
              <a:t>Collapse stretched letters (soooo to soo)</a:t>
            </a:r>
            <a:endParaRPr lang="en-US" sz="1600" dirty="0"/>
          </a:p>
        </p:txBody>
      </p:sp>
      <p:pic>
        <p:nvPicPr>
          <p:cNvPr id="14" name="Image 3" descr="check">    </p:cNvPr>
          <p:cNvPicPr>
            <a:picLocks noChangeAspect="1"/>
          </p:cNvPicPr>
          <p:nvPr/>
        </p:nvPicPr>
        <p:blipFill>
          <a:blip r:embed="rId4"/>
          <a:stretch>
            <a:fillRect/>
          </a:stretch>
        </p:blipFill>
        <p:spPr>
          <a:xfrm>
            <a:off x="6400800" y="4471416"/>
            <a:ext cx="310896" cy="310896"/>
          </a:xfrm>
          <a:prstGeom prst="rect">
            <a:avLst/>
          </a:prstGeom>
        </p:spPr>
      </p:pic>
      <p:sp>
        <p:nvSpPr>
          <p:cNvPr id="15" name="Text 9"/>
          <p:cNvSpPr txBox="1"/>
          <p:nvPr/>
        </p:nvSpPr>
        <p:spPr>
          <a:xfrm>
            <a:off x="6903720" y="4443984"/>
            <a:ext cx="4480560" cy="411480"/>
          </a:xfrm>
          <a:prstGeom prst="rect">
            <a:avLst/>
          </a:prstGeom>
          <a:noFill/>
          <a:ln/>
        </p:spPr>
        <p:txBody>
          <a:bodyPr wrap="square" lIns="0" tIns="0" rIns="0" bIns="0" rtlCol="0" anchor="t"/>
          <a:lstStyle/>
          <a:p>
            <a:pPr indent="0" marL="0">
              <a:buNone/>
            </a:pPr>
            <a:r>
              <a:rPr lang="en-US" sz="1600" dirty="0">
                <a:solidFill>
                  <a:srgbClr val="3B4468"/>
                </a:solidFill>
                <a:latin typeface="Calibri" pitchFamily="34" charset="0"/>
                <a:ea typeface="Calibri" pitchFamily="34" charset="-122"/>
                <a:cs typeface="Calibri" pitchFamily="34" charset="-120"/>
              </a:rPr>
              <a:t>Keep stop words so “not good” stays negative</a:t>
            </a:r>
            <a:endParaRPr lang="en-US" sz="1600" dirty="0"/>
          </a:p>
        </p:txBody>
      </p:sp>
      <p:pic>
        <p:nvPicPr>
          <p:cNvPr id="16" name="Image 4" descr="check">    </p:cNvPr>
          <p:cNvPicPr>
            <a:picLocks noChangeAspect="1"/>
          </p:cNvPicPr>
          <p:nvPr/>
        </p:nvPicPr>
        <p:blipFill>
          <a:blip r:embed="rId5"/>
          <a:stretch>
            <a:fillRect/>
          </a:stretch>
        </p:blipFill>
        <p:spPr>
          <a:xfrm>
            <a:off x="6400800" y="5093208"/>
            <a:ext cx="310896" cy="310896"/>
          </a:xfrm>
          <a:prstGeom prst="rect">
            <a:avLst/>
          </a:prstGeom>
        </p:spPr>
      </p:pic>
      <p:sp>
        <p:nvSpPr>
          <p:cNvPr id="17" name="Text 10"/>
          <p:cNvSpPr txBox="1"/>
          <p:nvPr/>
        </p:nvSpPr>
        <p:spPr>
          <a:xfrm>
            <a:off x="6903720" y="5065776"/>
            <a:ext cx="4480560" cy="411480"/>
          </a:xfrm>
          <a:prstGeom prst="rect">
            <a:avLst/>
          </a:prstGeom>
          <a:noFill/>
          <a:ln/>
        </p:spPr>
        <p:txBody>
          <a:bodyPr wrap="square" lIns="0" tIns="0" rIns="0" bIns="0" rtlCol="0" anchor="t"/>
          <a:lstStyle/>
          <a:p>
            <a:pPr indent="0" marL="0">
              <a:buNone/>
            </a:pPr>
            <a:r>
              <a:rPr lang="en-US" sz="1600" dirty="0">
                <a:solidFill>
                  <a:srgbClr val="3B4468"/>
                </a:solidFill>
                <a:latin typeface="Calibri" pitchFamily="34" charset="0"/>
                <a:ea typeface="Calibri" pitchFamily="34" charset="-122"/>
                <a:cs typeface="Calibri" pitchFamily="34" charset="-120"/>
              </a:rPr>
              <a:t>Same function in training and prediction</a:t>
            </a:r>
            <a:endParaRPr lang="en-US" sz="16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640080" y="411480"/>
            <a:ext cx="1091153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mbria" pitchFamily="34" charset="0"/>
                <a:ea typeface="Cambria" pitchFamily="34" charset="-122"/>
                <a:cs typeface="Cambria" pitchFamily="34" charset="-120"/>
              </a:rPr>
              <a:t>Choosing and measuring the model</a:t>
            </a:r>
            <a:endParaRPr lang="en-US" sz="3600" dirty="0"/>
          </a:p>
        </p:txBody>
      </p:sp>
      <p:sp>
        <p:nvSpPr>
          <p:cNvPr id="3" name="Text 1"/>
          <p:cNvSpPr txBox="1"/>
          <p:nvPr/>
        </p:nvSpPr>
        <p:spPr>
          <a:xfrm>
            <a:off x="640080" y="1691640"/>
            <a:ext cx="4937760" cy="3291840"/>
          </a:xfrm>
          <a:prstGeom prst="rect">
            <a:avLst/>
          </a:prstGeom>
          <a:noFill/>
          <a:ln/>
        </p:spPr>
        <p:txBody>
          <a:bodyPr wrap="square" lIns="0" tIns="0" rIns="0" bIns="0" rtlCol="0" anchor="t"/>
          <a:lstStyle/>
          <a:p>
            <a:pPr indent="0" marL="0">
              <a:spcAft>
                <a:spcPts val="1000"/>
              </a:spcAft>
              <a:buNone/>
            </a:pPr>
            <a:r>
              <a:rPr lang="en-US" sz="2200" b="1" dirty="0">
                <a:solidFill>
                  <a:srgbClr val="3B4468"/>
                </a:solidFill>
                <a:latin typeface="Cambria" pitchFamily="34" charset="0"/>
                <a:ea typeface="Cambria" pitchFamily="34" charset="-122"/>
                <a:cs typeface="Cambria" pitchFamily="34" charset="-120"/>
              </a:rPr>
              <a:t>Candidates</a:t>
            </a:r>
            <a:endParaRPr lang="en-US" sz="1700" dirty="0"/>
          </a:p>
          <a:p>
            <a:pPr marL="342900" indent="-342900">
              <a:spcAft>
                <a:spcPts val="1000"/>
              </a:spcAft>
              <a:buSzPct val="100000"/>
              <a:buChar char="•"/>
            </a:pPr>
            <a:r>
              <a:rPr lang="en-US" sz="1700" dirty="0">
                <a:solidFill>
                  <a:srgbClr val="3B4468"/>
                </a:solidFill>
                <a:latin typeface="Calibri" pitchFamily="34" charset="0"/>
                <a:ea typeface="Calibri" pitchFamily="34" charset="-122"/>
                <a:cs typeface="Calibri" pitchFamily="34" charset="-120"/>
              </a:rPr>
              <a:t>Logistic Regression with five regularisation strengths</a:t>
            </a:r>
            <a:endParaRPr lang="en-US" sz="1700" dirty="0"/>
          </a:p>
          <a:p>
            <a:pPr marL="342900" indent="-342900">
              <a:spcAft>
                <a:spcPts val="1000"/>
              </a:spcAft>
              <a:buSzPct val="100000"/>
              <a:buChar char="•"/>
            </a:pPr>
            <a:r>
              <a:rPr lang="en-US" sz="1700" dirty="0">
                <a:solidFill>
                  <a:srgbClr val="3B4468"/>
                </a:solidFill>
                <a:latin typeface="Calibri" pitchFamily="34" charset="0"/>
                <a:ea typeface="Calibri" pitchFamily="34" charset="-122"/>
                <a:cs typeface="Calibri" pitchFamily="34" charset="-120"/>
              </a:rPr>
              <a:t>Complement Naive Bayes with two smoothing values</a:t>
            </a:r>
            <a:endParaRPr lang="en-US" sz="1700" dirty="0"/>
          </a:p>
          <a:p>
            <a:pPr marL="342900" indent="-342900">
              <a:spcAft>
                <a:spcPts val="1000"/>
              </a:spcAft>
              <a:buSzPct val="100000"/>
              <a:buChar char="•"/>
            </a:pPr>
            <a:r>
              <a:rPr lang="en-US" sz="1700" dirty="0">
                <a:solidFill>
                  <a:srgbClr val="3B4468"/>
                </a:solidFill>
                <a:latin typeface="Calibri" pitchFamily="34" charset="0"/>
                <a:ea typeface="Calibri" pitchFamily="34" charset="-122"/>
                <a:cs typeface="Calibri" pitchFamily="34" charset="-120"/>
              </a:rPr>
              <a:t>Best candidate is picked on the validation set (macro F1)</a:t>
            </a:r>
            <a:endParaRPr lang="en-US" sz="1700" dirty="0"/>
          </a:p>
          <a:p>
            <a:pPr marL="342900" indent="-342900">
              <a:spcAft>
                <a:spcPts val="1000"/>
              </a:spcAft>
              <a:buSzPct val="100000"/>
              <a:buChar char="•"/>
            </a:pPr>
            <a:r>
              <a:rPr lang="en-US" sz="1700" dirty="0">
                <a:solidFill>
                  <a:srgbClr val="3B4468"/>
                </a:solidFill>
                <a:latin typeface="Calibri" pitchFamily="34" charset="0"/>
                <a:ea typeface="Calibri" pitchFamily="34" charset="-122"/>
                <a:cs typeface="Calibri" pitchFamily="34" charset="-120"/>
              </a:rPr>
              <a:t>Final scores come from the untouched test set</a:t>
            </a:r>
            <a:endParaRPr lang="en-US" sz="1700" dirty="0"/>
          </a:p>
        </p:txBody>
      </p:sp>
      <p:sp>
        <p:nvSpPr>
          <p:cNvPr id="4" name="Text 2"/>
          <p:cNvSpPr txBox="1"/>
          <p:nvPr/>
        </p:nvSpPr>
        <p:spPr>
          <a:xfrm>
            <a:off x="640080" y="5029200"/>
            <a:ext cx="4937760" cy="822960"/>
          </a:xfrm>
          <a:prstGeom prst="rect">
            <a:avLst/>
          </a:prstGeom>
          <a:noFill/>
          <a:ln/>
        </p:spPr>
        <p:txBody>
          <a:bodyPr wrap="square" lIns="0" tIns="0" rIns="0" bIns="0" rtlCol="0" anchor="t"/>
          <a:lstStyle/>
          <a:p>
            <a:pPr indent="0" marL="0">
              <a:buNone/>
            </a:pPr>
            <a:r>
              <a:rPr lang="en-US" sz="1500" i="1" dirty="0">
                <a:solidFill>
                  <a:srgbClr val="5A6385"/>
                </a:solidFill>
                <a:latin typeface="Calibri" pitchFamily="34" charset="0"/>
                <a:ea typeface="Calibri" pitchFamily="34" charset="-122"/>
                <a:cs typeface="Calibri" pitchFamily="34" charset="-120"/>
              </a:rPr>
              <a:t>Metrics are macro-averaged, so the harder Neutral class counts as much as the others.</a:t>
            </a:r>
            <a:endParaRPr lang="en-US" sz="1500" dirty="0"/>
          </a:p>
        </p:txBody>
      </p:sp>
      <p:sp>
        <p:nvSpPr>
          <p:cNvPr id="5" name="card"/>
          <p:cNvSpPr/>
          <p:nvPr/>
        </p:nvSpPr>
        <p:spPr>
          <a:xfrm>
            <a:off x="6035040" y="1691640"/>
            <a:ext cx="2697480" cy="1920240"/>
          </a:xfrm>
          <a:prstGeom prst="roundRect">
            <a:avLst>
              <a:gd name="adj" fmla="val 6667"/>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6" name="Text 4"/>
          <p:cNvSpPr txBox="1"/>
          <p:nvPr/>
        </p:nvSpPr>
        <p:spPr>
          <a:xfrm>
            <a:off x="6309360" y="1874520"/>
            <a:ext cx="2194560" cy="365760"/>
          </a:xfrm>
          <a:prstGeom prst="rect">
            <a:avLst/>
          </a:prstGeom>
          <a:noFill/>
          <a:ln/>
        </p:spPr>
        <p:txBody>
          <a:bodyPr wrap="square" lIns="0" tIns="0" rIns="0" bIns="0" rtlCol="0" anchor="t"/>
          <a:lstStyle/>
          <a:p>
            <a:pPr indent="0" marL="0">
              <a:buNone/>
            </a:pPr>
            <a:r>
              <a:rPr lang="en-US" sz="1800" b="1" dirty="0">
                <a:solidFill>
                  <a:srgbClr val="0E1330"/>
                </a:solidFill>
                <a:latin typeface="Calibri" pitchFamily="34" charset="0"/>
                <a:ea typeface="Calibri" pitchFamily="34" charset="-122"/>
                <a:cs typeface="Calibri" pitchFamily="34" charset="-120"/>
              </a:rPr>
              <a:t>Accuracy</a:t>
            </a:r>
            <a:endParaRPr lang="en-US" sz="1800" dirty="0"/>
          </a:p>
        </p:txBody>
      </p:sp>
      <p:sp>
        <p:nvSpPr>
          <p:cNvPr id="7" name="Text 5"/>
          <p:cNvSpPr txBox="1"/>
          <p:nvPr/>
        </p:nvSpPr>
        <p:spPr>
          <a:xfrm>
            <a:off x="6309360" y="2286000"/>
            <a:ext cx="2194560" cy="640080"/>
          </a:xfrm>
          <a:prstGeom prst="rect">
            <a:avLst/>
          </a:prstGeom>
          <a:noFill/>
          <a:ln/>
        </p:spPr>
        <p:txBody>
          <a:bodyPr wrap="square" lIns="0" tIns="0" rIns="0" bIns="0" rtlCol="0" anchor="t"/>
          <a:lstStyle/>
          <a:p>
            <a:pPr indent="0" marL="0">
              <a:buNone/>
            </a:pPr>
            <a:r>
              <a:rPr lang="en-US" sz="4000" b="1" dirty="0">
                <a:solidFill>
                  <a:srgbClr val="5B4BE0"/>
                </a:solidFill>
                <a:latin typeface="Cambria" pitchFamily="34" charset="0"/>
                <a:ea typeface="Cambria" pitchFamily="34" charset="-122"/>
                <a:cs typeface="Cambria" pitchFamily="34" charset="-120"/>
              </a:rPr>
              <a:t>58.8%</a:t>
            </a:r>
            <a:endParaRPr lang="en-US" sz="4000" dirty="0"/>
          </a:p>
        </p:txBody>
      </p:sp>
      <p:sp>
        <p:nvSpPr>
          <p:cNvPr id="8" name="Text 6"/>
          <p:cNvSpPr txBox="1"/>
          <p:nvPr/>
        </p:nvSpPr>
        <p:spPr>
          <a:xfrm>
            <a:off x="6309360" y="3017520"/>
            <a:ext cx="2194560" cy="457200"/>
          </a:xfrm>
          <a:prstGeom prst="rect">
            <a:avLst/>
          </a:prstGeom>
          <a:noFill/>
          <a:ln/>
        </p:spPr>
        <p:txBody>
          <a:bodyPr wrap="square" lIns="0" tIns="0" rIns="0" bIns="0" rtlCol="0" anchor="t"/>
          <a:lstStyle/>
          <a:p>
            <a:pPr indent="0" marL="0">
              <a:buNone/>
            </a:pPr>
            <a:r>
              <a:rPr lang="en-US" sz="1200" dirty="0">
                <a:solidFill>
                  <a:srgbClr val="5A6385"/>
                </a:solidFill>
                <a:latin typeface="Calibri" pitchFamily="34" charset="0"/>
                <a:ea typeface="Calibri" pitchFamily="34" charset="-122"/>
                <a:cs typeface="Calibri" pitchFamily="34" charset="-120"/>
              </a:rPr>
              <a:t>share of correct predictions</a:t>
            </a:r>
            <a:endParaRPr lang="en-US" sz="1200" dirty="0"/>
          </a:p>
        </p:txBody>
      </p:sp>
      <p:sp>
        <p:nvSpPr>
          <p:cNvPr id="9" name="card"/>
          <p:cNvSpPr/>
          <p:nvPr/>
        </p:nvSpPr>
        <p:spPr>
          <a:xfrm>
            <a:off x="8869680" y="1691640"/>
            <a:ext cx="2697480" cy="1920240"/>
          </a:xfrm>
          <a:prstGeom prst="roundRect">
            <a:avLst>
              <a:gd name="adj" fmla="val 6667"/>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0" name="Text 8"/>
          <p:cNvSpPr txBox="1"/>
          <p:nvPr/>
        </p:nvSpPr>
        <p:spPr>
          <a:xfrm>
            <a:off x="9144000" y="1874520"/>
            <a:ext cx="2194560" cy="365760"/>
          </a:xfrm>
          <a:prstGeom prst="rect">
            <a:avLst/>
          </a:prstGeom>
          <a:noFill/>
          <a:ln/>
        </p:spPr>
        <p:txBody>
          <a:bodyPr wrap="square" lIns="0" tIns="0" rIns="0" bIns="0" rtlCol="0" anchor="t"/>
          <a:lstStyle/>
          <a:p>
            <a:pPr indent="0" marL="0">
              <a:buNone/>
            </a:pPr>
            <a:r>
              <a:rPr lang="en-US" sz="1800" b="1" dirty="0">
                <a:solidFill>
                  <a:srgbClr val="0E1330"/>
                </a:solidFill>
                <a:latin typeface="Calibri" pitchFamily="34" charset="0"/>
                <a:ea typeface="Calibri" pitchFamily="34" charset="-122"/>
                <a:cs typeface="Calibri" pitchFamily="34" charset="-120"/>
              </a:rPr>
              <a:t>Precision</a:t>
            </a:r>
            <a:endParaRPr lang="en-US" sz="1800" dirty="0"/>
          </a:p>
        </p:txBody>
      </p:sp>
      <p:sp>
        <p:nvSpPr>
          <p:cNvPr id="11" name="Text 9"/>
          <p:cNvSpPr txBox="1"/>
          <p:nvPr/>
        </p:nvSpPr>
        <p:spPr>
          <a:xfrm>
            <a:off x="9144000" y="2286000"/>
            <a:ext cx="2194560" cy="640080"/>
          </a:xfrm>
          <a:prstGeom prst="rect">
            <a:avLst/>
          </a:prstGeom>
          <a:noFill/>
          <a:ln/>
        </p:spPr>
        <p:txBody>
          <a:bodyPr wrap="square" lIns="0" tIns="0" rIns="0" bIns="0" rtlCol="0" anchor="t"/>
          <a:lstStyle/>
          <a:p>
            <a:pPr indent="0" marL="0">
              <a:buNone/>
            </a:pPr>
            <a:r>
              <a:rPr lang="en-US" sz="4000" b="1" dirty="0">
                <a:solidFill>
                  <a:srgbClr val="5B4BE0"/>
                </a:solidFill>
                <a:latin typeface="Cambria" pitchFamily="34" charset="0"/>
                <a:ea typeface="Cambria" pitchFamily="34" charset="-122"/>
                <a:cs typeface="Cambria" pitchFamily="34" charset="-120"/>
              </a:rPr>
              <a:t>57.8%</a:t>
            </a:r>
            <a:endParaRPr lang="en-US" sz="4000" dirty="0"/>
          </a:p>
        </p:txBody>
      </p:sp>
      <p:sp>
        <p:nvSpPr>
          <p:cNvPr id="12" name="Text 10"/>
          <p:cNvSpPr txBox="1"/>
          <p:nvPr/>
        </p:nvSpPr>
        <p:spPr>
          <a:xfrm>
            <a:off x="9144000" y="3017520"/>
            <a:ext cx="2194560" cy="457200"/>
          </a:xfrm>
          <a:prstGeom prst="rect">
            <a:avLst/>
          </a:prstGeom>
          <a:noFill/>
          <a:ln/>
        </p:spPr>
        <p:txBody>
          <a:bodyPr wrap="square" lIns="0" tIns="0" rIns="0" bIns="0" rtlCol="0" anchor="t"/>
          <a:lstStyle/>
          <a:p>
            <a:pPr indent="0" marL="0">
              <a:buNone/>
            </a:pPr>
            <a:r>
              <a:rPr lang="en-US" sz="1200" dirty="0">
                <a:solidFill>
                  <a:srgbClr val="5A6385"/>
                </a:solidFill>
                <a:latin typeface="Calibri" pitchFamily="34" charset="0"/>
                <a:ea typeface="Calibri" pitchFamily="34" charset="-122"/>
                <a:cs typeface="Calibri" pitchFamily="34" charset="-120"/>
              </a:rPr>
              <a:t>of predicted X, how many are X</a:t>
            </a:r>
            <a:endParaRPr lang="en-US" sz="1200" dirty="0"/>
          </a:p>
        </p:txBody>
      </p:sp>
      <p:sp>
        <p:nvSpPr>
          <p:cNvPr id="13" name="card"/>
          <p:cNvSpPr/>
          <p:nvPr/>
        </p:nvSpPr>
        <p:spPr>
          <a:xfrm>
            <a:off x="6035040" y="3794760"/>
            <a:ext cx="2697480" cy="1920240"/>
          </a:xfrm>
          <a:prstGeom prst="roundRect">
            <a:avLst>
              <a:gd name="adj" fmla="val 6667"/>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4" name="Text 12"/>
          <p:cNvSpPr txBox="1"/>
          <p:nvPr/>
        </p:nvSpPr>
        <p:spPr>
          <a:xfrm>
            <a:off x="6309360" y="3977640"/>
            <a:ext cx="2194560" cy="365760"/>
          </a:xfrm>
          <a:prstGeom prst="rect">
            <a:avLst/>
          </a:prstGeom>
          <a:noFill/>
          <a:ln/>
        </p:spPr>
        <p:txBody>
          <a:bodyPr wrap="square" lIns="0" tIns="0" rIns="0" bIns="0" rtlCol="0" anchor="t"/>
          <a:lstStyle/>
          <a:p>
            <a:pPr indent="0" marL="0">
              <a:buNone/>
            </a:pPr>
            <a:r>
              <a:rPr lang="en-US" sz="1800" b="1" dirty="0">
                <a:solidFill>
                  <a:srgbClr val="0E1330"/>
                </a:solidFill>
                <a:latin typeface="Calibri" pitchFamily="34" charset="0"/>
                <a:ea typeface="Calibri" pitchFamily="34" charset="-122"/>
                <a:cs typeface="Calibri" pitchFamily="34" charset="-120"/>
              </a:rPr>
              <a:t>Recall</a:t>
            </a:r>
            <a:endParaRPr lang="en-US" sz="1800" dirty="0"/>
          </a:p>
        </p:txBody>
      </p:sp>
      <p:sp>
        <p:nvSpPr>
          <p:cNvPr id="15" name="Text 13"/>
          <p:cNvSpPr txBox="1"/>
          <p:nvPr/>
        </p:nvSpPr>
        <p:spPr>
          <a:xfrm>
            <a:off x="6309360" y="4389120"/>
            <a:ext cx="2194560" cy="640080"/>
          </a:xfrm>
          <a:prstGeom prst="rect">
            <a:avLst/>
          </a:prstGeom>
          <a:noFill/>
          <a:ln/>
        </p:spPr>
        <p:txBody>
          <a:bodyPr wrap="square" lIns="0" tIns="0" rIns="0" bIns="0" rtlCol="0" anchor="t"/>
          <a:lstStyle/>
          <a:p>
            <a:pPr indent="0" marL="0">
              <a:buNone/>
            </a:pPr>
            <a:r>
              <a:rPr lang="en-US" sz="4000" b="1" dirty="0">
                <a:solidFill>
                  <a:srgbClr val="5B4BE0"/>
                </a:solidFill>
                <a:latin typeface="Cambria" pitchFamily="34" charset="0"/>
                <a:ea typeface="Cambria" pitchFamily="34" charset="-122"/>
                <a:cs typeface="Cambria" pitchFamily="34" charset="-120"/>
              </a:rPr>
              <a:t>59.3%</a:t>
            </a:r>
            <a:endParaRPr lang="en-US" sz="4000" dirty="0"/>
          </a:p>
        </p:txBody>
      </p:sp>
      <p:sp>
        <p:nvSpPr>
          <p:cNvPr id="16" name="Text 14"/>
          <p:cNvSpPr txBox="1"/>
          <p:nvPr/>
        </p:nvSpPr>
        <p:spPr>
          <a:xfrm>
            <a:off x="6309360" y="5120640"/>
            <a:ext cx="2194560" cy="457200"/>
          </a:xfrm>
          <a:prstGeom prst="rect">
            <a:avLst/>
          </a:prstGeom>
          <a:noFill/>
          <a:ln/>
        </p:spPr>
        <p:txBody>
          <a:bodyPr wrap="square" lIns="0" tIns="0" rIns="0" bIns="0" rtlCol="0" anchor="t"/>
          <a:lstStyle/>
          <a:p>
            <a:pPr indent="0" marL="0">
              <a:buNone/>
            </a:pPr>
            <a:r>
              <a:rPr lang="en-US" sz="1200" dirty="0">
                <a:solidFill>
                  <a:srgbClr val="5A6385"/>
                </a:solidFill>
                <a:latin typeface="Calibri" pitchFamily="34" charset="0"/>
                <a:ea typeface="Calibri" pitchFamily="34" charset="-122"/>
                <a:cs typeface="Calibri" pitchFamily="34" charset="-120"/>
              </a:rPr>
              <a:t>of actual X, how many were found</a:t>
            </a:r>
            <a:endParaRPr lang="en-US" sz="1200" dirty="0"/>
          </a:p>
        </p:txBody>
      </p:sp>
      <p:sp>
        <p:nvSpPr>
          <p:cNvPr id="17" name="card"/>
          <p:cNvSpPr/>
          <p:nvPr/>
        </p:nvSpPr>
        <p:spPr>
          <a:xfrm>
            <a:off x="8869680" y="3794760"/>
            <a:ext cx="2697480" cy="1920240"/>
          </a:xfrm>
          <a:prstGeom prst="roundRect">
            <a:avLst>
              <a:gd name="adj" fmla="val 6667"/>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8" name="Text 16"/>
          <p:cNvSpPr txBox="1"/>
          <p:nvPr/>
        </p:nvSpPr>
        <p:spPr>
          <a:xfrm>
            <a:off x="9144000" y="3977640"/>
            <a:ext cx="2194560" cy="365760"/>
          </a:xfrm>
          <a:prstGeom prst="rect">
            <a:avLst/>
          </a:prstGeom>
          <a:noFill/>
          <a:ln/>
        </p:spPr>
        <p:txBody>
          <a:bodyPr wrap="square" lIns="0" tIns="0" rIns="0" bIns="0" rtlCol="0" anchor="t"/>
          <a:lstStyle/>
          <a:p>
            <a:pPr indent="0" marL="0">
              <a:buNone/>
            </a:pPr>
            <a:r>
              <a:rPr lang="en-US" sz="1800" b="1" dirty="0">
                <a:solidFill>
                  <a:srgbClr val="0E1330"/>
                </a:solidFill>
                <a:latin typeface="Calibri" pitchFamily="34" charset="0"/>
                <a:ea typeface="Calibri" pitchFamily="34" charset="-122"/>
                <a:cs typeface="Calibri" pitchFamily="34" charset="-120"/>
              </a:rPr>
              <a:t>F1-score</a:t>
            </a:r>
            <a:endParaRPr lang="en-US" sz="1800" dirty="0"/>
          </a:p>
        </p:txBody>
      </p:sp>
      <p:sp>
        <p:nvSpPr>
          <p:cNvPr id="19" name="Text 17"/>
          <p:cNvSpPr txBox="1"/>
          <p:nvPr/>
        </p:nvSpPr>
        <p:spPr>
          <a:xfrm>
            <a:off x="9144000" y="4389120"/>
            <a:ext cx="2194560" cy="640080"/>
          </a:xfrm>
          <a:prstGeom prst="rect">
            <a:avLst/>
          </a:prstGeom>
          <a:noFill/>
          <a:ln/>
        </p:spPr>
        <p:txBody>
          <a:bodyPr wrap="square" lIns="0" tIns="0" rIns="0" bIns="0" rtlCol="0" anchor="t"/>
          <a:lstStyle/>
          <a:p>
            <a:pPr indent="0" marL="0">
              <a:buNone/>
            </a:pPr>
            <a:r>
              <a:rPr lang="en-US" sz="4000" b="1" dirty="0">
                <a:solidFill>
                  <a:srgbClr val="5B4BE0"/>
                </a:solidFill>
                <a:latin typeface="Cambria" pitchFamily="34" charset="0"/>
                <a:ea typeface="Cambria" pitchFamily="34" charset="-122"/>
                <a:cs typeface="Cambria" pitchFamily="34" charset="-120"/>
              </a:rPr>
              <a:t>58.4%</a:t>
            </a:r>
            <a:endParaRPr lang="en-US" sz="4000" dirty="0"/>
          </a:p>
        </p:txBody>
      </p:sp>
      <p:sp>
        <p:nvSpPr>
          <p:cNvPr id="20" name="Text 18"/>
          <p:cNvSpPr txBox="1"/>
          <p:nvPr/>
        </p:nvSpPr>
        <p:spPr>
          <a:xfrm>
            <a:off x="9144000" y="5120640"/>
            <a:ext cx="2194560" cy="457200"/>
          </a:xfrm>
          <a:prstGeom prst="rect">
            <a:avLst/>
          </a:prstGeom>
          <a:noFill/>
          <a:ln/>
        </p:spPr>
        <p:txBody>
          <a:bodyPr wrap="square" lIns="0" tIns="0" rIns="0" bIns="0" rtlCol="0" anchor="t"/>
          <a:lstStyle/>
          <a:p>
            <a:pPr indent="0" marL="0">
              <a:buNone/>
            </a:pPr>
            <a:r>
              <a:rPr lang="en-US" sz="1200" dirty="0">
                <a:solidFill>
                  <a:srgbClr val="5A6385"/>
                </a:solidFill>
                <a:latin typeface="Calibri" pitchFamily="34" charset="0"/>
                <a:ea typeface="Calibri" pitchFamily="34" charset="-122"/>
                <a:cs typeface="Calibri" pitchFamily="34" charset="-120"/>
              </a:rPr>
              <a:t>balance of precision and recall</a:t>
            </a:r>
            <a:endParaRPr lang="en-US" sz="1200" dirty="0"/>
          </a:p>
        </p:txBody>
      </p:sp>
      <p:sp>
        <p:nvSpPr>
          <p:cNvPr id="21" name="Text 19"/>
          <p:cNvSpPr txBox="1"/>
          <p:nvPr/>
        </p:nvSpPr>
        <p:spPr>
          <a:xfrm>
            <a:off x="6035040" y="5852160"/>
            <a:ext cx="5532120" cy="274320"/>
          </a:xfrm>
          <a:prstGeom prst="rect">
            <a:avLst/>
          </a:prstGeom>
          <a:noFill/>
          <a:ln/>
        </p:spPr>
        <p:txBody>
          <a:bodyPr wrap="square" lIns="0" tIns="0" rIns="0" bIns="0" rtlCol="0" anchor="t"/>
          <a:lstStyle/>
          <a:p>
            <a:pPr indent="0" marL="0">
              <a:buNone/>
            </a:pPr>
            <a:r>
              <a:rPr lang="en-US" sz="1200" dirty="0">
                <a:solidFill>
                  <a:srgbClr val="5A6385"/>
                </a:solidFill>
                <a:latin typeface="Calibri" pitchFamily="34" charset="0"/>
                <a:ea typeface="Calibri" pitchFamily="34" charset="-122"/>
                <a:cs typeface="Calibri" pitchFamily="34" charset="-120"/>
              </a:rPr>
              <a:t>Macro-averaged on 12,284 held-out test texts</a:t>
            </a:r>
            <a:endParaRPr lang="en-US" sz="12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640080" y="411480"/>
            <a:ext cx="1091153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mbria" pitchFamily="34" charset="0"/>
                <a:ea typeface="Cambria" pitchFamily="34" charset="-122"/>
                <a:cs typeface="Cambria" pitchFamily="34" charset="-120"/>
              </a:rPr>
              <a:t>Logistic Regression won the comparison</a:t>
            </a:r>
            <a:endParaRPr lang="en-US" sz="3600" dirty="0"/>
          </a:p>
        </p:txBody>
      </p:sp>
      <p:sp>
        <p:nvSpPr>
          <p:cNvPr id="3" name="card"/>
          <p:cNvSpPr/>
          <p:nvPr/>
        </p:nvSpPr>
        <p:spPr>
          <a:xfrm>
            <a:off x="640080" y="1691640"/>
            <a:ext cx="6858000" cy="4206240"/>
          </a:xfrm>
          <a:prstGeom prst="roundRect">
            <a:avLst>
              <a:gd name="adj" fmla="val 3043"/>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4" name="Text 2"/>
          <p:cNvSpPr txBox="1"/>
          <p:nvPr/>
        </p:nvSpPr>
        <p:spPr>
          <a:xfrm>
            <a:off x="1005840" y="1874520"/>
            <a:ext cx="5943600" cy="365760"/>
          </a:xfrm>
          <a:prstGeom prst="rect">
            <a:avLst/>
          </a:prstGeom>
          <a:noFill/>
          <a:ln/>
        </p:spPr>
        <p:txBody>
          <a:bodyPr wrap="square" lIns="0" tIns="0" rIns="0" bIns="0" rtlCol="0" anchor="t"/>
          <a:lstStyle/>
          <a:p>
            <a:pPr indent="0" marL="0">
              <a:buNone/>
            </a:pPr>
            <a:r>
              <a:rPr lang="en-US" sz="1600" b="1" dirty="0">
                <a:solidFill>
                  <a:srgbClr val="5A6385"/>
                </a:solidFill>
                <a:latin typeface="Calibri" pitchFamily="34" charset="0"/>
                <a:ea typeface="Calibri" pitchFamily="34" charset="-122"/>
                <a:cs typeface="Calibri" pitchFamily="34" charset="-120"/>
              </a:rPr>
              <a:t>Validation F1-score (macro), best first</a:t>
            </a:r>
            <a:endParaRPr lang="en-US" sz="1600" dirty="0"/>
          </a:p>
        </p:txBody>
      </p:sp>
      <p:sp>
        <p:nvSpPr>
          <p:cNvPr id="5" name="Text 3"/>
          <p:cNvSpPr txBox="1"/>
          <p:nvPr/>
        </p:nvSpPr>
        <p:spPr>
          <a:xfrm>
            <a:off x="1005840" y="2377440"/>
            <a:ext cx="2286000" cy="329184"/>
          </a:xfrm>
          <a:prstGeom prst="rect">
            <a:avLst/>
          </a:prstGeom>
          <a:noFill/>
          <a:ln/>
        </p:spPr>
        <p:txBody>
          <a:bodyPr wrap="square" lIns="0" tIns="0" rIns="0" bIns="0" rtlCol="0" anchor="ctr"/>
          <a:lstStyle/>
          <a:p>
            <a:pPr indent="0" marL="0">
              <a:buNone/>
            </a:pPr>
            <a:r>
              <a:rPr lang="en-US" sz="1400" b="1" dirty="0">
                <a:solidFill>
                  <a:srgbClr val="0E1330"/>
                </a:solidFill>
                <a:latin typeface="Calibri" pitchFamily="34" charset="0"/>
                <a:ea typeface="Calibri" pitchFamily="34" charset="-122"/>
                <a:cs typeface="Calibri" pitchFamily="34" charset="-120"/>
              </a:rPr>
              <a:t>LogReg, C = 4</a:t>
            </a:r>
            <a:endParaRPr lang="en-US" sz="1400" dirty="0"/>
          </a:p>
        </p:txBody>
      </p:sp>
      <p:sp>
        <p:nvSpPr>
          <p:cNvPr id="6" name="bar-0"/>
          <p:cNvSpPr/>
          <p:nvPr/>
        </p:nvSpPr>
        <p:spPr>
          <a:xfrm>
            <a:off x="3383280" y="2414016"/>
            <a:ext cx="2999232" cy="256032"/>
          </a:xfrm>
          <a:prstGeom prst="roundRect">
            <a:avLst>
              <a:gd name="adj" fmla="val 21429"/>
            </a:avLst>
          </a:prstGeom>
          <a:solidFill>
            <a:srgbClr val="0B9E65"/>
          </a:solidFill>
          <a:ln w="12700">
            <a:solidFill>
              <a:srgbClr val="FFFFFF"/>
            </a:solidFill>
            <a:prstDash val="solid"/>
          </a:ln>
        </p:spPr>
      </p:sp>
      <p:sp>
        <p:nvSpPr>
          <p:cNvPr id="7" name="Text 5"/>
          <p:cNvSpPr txBox="1"/>
          <p:nvPr/>
        </p:nvSpPr>
        <p:spPr>
          <a:xfrm>
            <a:off x="6473952" y="2377440"/>
            <a:ext cx="822960" cy="329184"/>
          </a:xfrm>
          <a:prstGeom prst="rect">
            <a:avLst/>
          </a:prstGeom>
          <a:noFill/>
          <a:ln/>
        </p:spPr>
        <p:txBody>
          <a:bodyPr wrap="square" lIns="0" tIns="0" rIns="0" bIns="0" rtlCol="0" anchor="ctr"/>
          <a:lstStyle/>
          <a:p>
            <a:pPr indent="0" marL="0">
              <a:buNone/>
            </a:pPr>
            <a:r>
              <a:rPr lang="en-US" sz="1400" b="1" dirty="0">
                <a:solidFill>
                  <a:srgbClr val="0B9E65"/>
                </a:solidFill>
                <a:latin typeface="Calibri" pitchFamily="34" charset="0"/>
                <a:ea typeface="Calibri" pitchFamily="34" charset="-122"/>
                <a:cs typeface="Calibri" pitchFamily="34" charset="-120"/>
              </a:rPr>
              <a:t>65.6%</a:t>
            </a:r>
            <a:endParaRPr lang="en-US" sz="1400" dirty="0"/>
          </a:p>
        </p:txBody>
      </p:sp>
      <p:sp>
        <p:nvSpPr>
          <p:cNvPr id="8" name="Text 6"/>
          <p:cNvSpPr txBox="1"/>
          <p:nvPr/>
        </p:nvSpPr>
        <p:spPr>
          <a:xfrm>
            <a:off x="1005840" y="2852928"/>
            <a:ext cx="2286000" cy="329184"/>
          </a:xfrm>
          <a:prstGeom prst="rect">
            <a:avLst/>
          </a:prstGeom>
          <a:noFill/>
          <a:ln/>
        </p:spPr>
        <p:txBody>
          <a:bodyPr wrap="square" lIns="0" tIns="0" rIns="0" bIns="0" rtlCol="0" anchor="ctr"/>
          <a:lstStyle/>
          <a:p>
            <a:pPr indent="0" marL="0">
              <a:buNone/>
            </a:pPr>
            <a:r>
              <a:rPr lang="en-US" sz="1400" dirty="0">
                <a:solidFill>
                  <a:srgbClr val="3B4468"/>
                </a:solidFill>
                <a:latin typeface="Calibri" pitchFamily="34" charset="0"/>
                <a:ea typeface="Calibri" pitchFamily="34" charset="-122"/>
                <a:cs typeface="Calibri" pitchFamily="34" charset="-120"/>
              </a:rPr>
              <a:t>LogReg, C = 2</a:t>
            </a:r>
            <a:endParaRPr lang="en-US" sz="1400" dirty="0"/>
          </a:p>
        </p:txBody>
      </p:sp>
      <p:sp>
        <p:nvSpPr>
          <p:cNvPr id="9" name="bar-1"/>
          <p:cNvSpPr/>
          <p:nvPr/>
        </p:nvSpPr>
        <p:spPr>
          <a:xfrm>
            <a:off x="3383280" y="2889504"/>
            <a:ext cx="2967228" cy="256032"/>
          </a:xfrm>
          <a:prstGeom prst="roundRect">
            <a:avLst>
              <a:gd name="adj" fmla="val 21429"/>
            </a:avLst>
          </a:prstGeom>
          <a:solidFill>
            <a:srgbClr val="9AA3D4"/>
          </a:solidFill>
          <a:ln w="12700">
            <a:solidFill>
              <a:srgbClr val="FFFFFF"/>
            </a:solidFill>
            <a:prstDash val="solid"/>
          </a:ln>
        </p:spPr>
      </p:sp>
      <p:sp>
        <p:nvSpPr>
          <p:cNvPr id="10" name="Text 8"/>
          <p:cNvSpPr txBox="1"/>
          <p:nvPr/>
        </p:nvSpPr>
        <p:spPr>
          <a:xfrm>
            <a:off x="6441948" y="2852928"/>
            <a:ext cx="822960" cy="329184"/>
          </a:xfrm>
          <a:prstGeom prst="rect">
            <a:avLst/>
          </a:prstGeom>
          <a:noFill/>
          <a:ln/>
        </p:spPr>
        <p:txBody>
          <a:bodyPr wrap="square" lIns="0" tIns="0" rIns="0" bIns="0" rtlCol="0" anchor="ctr"/>
          <a:lstStyle/>
          <a:p>
            <a:pPr indent="0" marL="0">
              <a:buNone/>
            </a:pPr>
            <a:r>
              <a:rPr lang="en-US" sz="1400" dirty="0">
                <a:solidFill>
                  <a:srgbClr val="3B4468"/>
                </a:solidFill>
                <a:latin typeface="Calibri" pitchFamily="34" charset="0"/>
                <a:ea typeface="Calibri" pitchFamily="34" charset="-122"/>
                <a:cs typeface="Calibri" pitchFamily="34" charset="-120"/>
              </a:rPr>
              <a:t>64.9%</a:t>
            </a:r>
            <a:endParaRPr lang="en-US" sz="1400" dirty="0"/>
          </a:p>
        </p:txBody>
      </p:sp>
      <p:sp>
        <p:nvSpPr>
          <p:cNvPr id="11" name="Text 9"/>
          <p:cNvSpPr txBox="1"/>
          <p:nvPr/>
        </p:nvSpPr>
        <p:spPr>
          <a:xfrm>
            <a:off x="1005840" y="3328416"/>
            <a:ext cx="2286000" cy="329184"/>
          </a:xfrm>
          <a:prstGeom prst="rect">
            <a:avLst/>
          </a:prstGeom>
          <a:noFill/>
          <a:ln/>
        </p:spPr>
        <p:txBody>
          <a:bodyPr wrap="square" lIns="0" tIns="0" rIns="0" bIns="0" rtlCol="0" anchor="ctr"/>
          <a:lstStyle/>
          <a:p>
            <a:pPr indent="0" marL="0">
              <a:buNone/>
            </a:pPr>
            <a:r>
              <a:rPr lang="en-US" sz="1400" dirty="0">
                <a:solidFill>
                  <a:srgbClr val="3B4468"/>
                </a:solidFill>
                <a:latin typeface="Calibri" pitchFamily="34" charset="0"/>
                <a:ea typeface="Calibri" pitchFamily="34" charset="-122"/>
                <a:cs typeface="Calibri" pitchFamily="34" charset="-120"/>
              </a:rPr>
              <a:t>LogReg, C = 8</a:t>
            </a:r>
            <a:endParaRPr lang="en-US" sz="1400" dirty="0"/>
          </a:p>
        </p:txBody>
      </p:sp>
      <p:sp>
        <p:nvSpPr>
          <p:cNvPr id="12" name="bar-2"/>
          <p:cNvSpPr/>
          <p:nvPr/>
        </p:nvSpPr>
        <p:spPr>
          <a:xfrm>
            <a:off x="3383280" y="3364992"/>
            <a:ext cx="2953512" cy="256032"/>
          </a:xfrm>
          <a:prstGeom prst="roundRect">
            <a:avLst>
              <a:gd name="adj" fmla="val 21429"/>
            </a:avLst>
          </a:prstGeom>
          <a:solidFill>
            <a:srgbClr val="9AA3D4"/>
          </a:solidFill>
          <a:ln w="12700">
            <a:solidFill>
              <a:srgbClr val="FFFFFF"/>
            </a:solidFill>
            <a:prstDash val="solid"/>
          </a:ln>
        </p:spPr>
      </p:sp>
      <p:sp>
        <p:nvSpPr>
          <p:cNvPr id="13" name="Text 11"/>
          <p:cNvSpPr txBox="1"/>
          <p:nvPr/>
        </p:nvSpPr>
        <p:spPr>
          <a:xfrm>
            <a:off x="6428232" y="3328416"/>
            <a:ext cx="822960" cy="329184"/>
          </a:xfrm>
          <a:prstGeom prst="rect">
            <a:avLst/>
          </a:prstGeom>
          <a:noFill/>
          <a:ln/>
        </p:spPr>
        <p:txBody>
          <a:bodyPr wrap="square" lIns="0" tIns="0" rIns="0" bIns="0" rtlCol="0" anchor="ctr"/>
          <a:lstStyle/>
          <a:p>
            <a:pPr indent="0" marL="0">
              <a:buNone/>
            </a:pPr>
            <a:r>
              <a:rPr lang="en-US" sz="1400" dirty="0">
                <a:solidFill>
                  <a:srgbClr val="3B4468"/>
                </a:solidFill>
                <a:latin typeface="Calibri" pitchFamily="34" charset="0"/>
                <a:ea typeface="Calibri" pitchFamily="34" charset="-122"/>
                <a:cs typeface="Calibri" pitchFamily="34" charset="-120"/>
              </a:rPr>
              <a:t>64.6%</a:t>
            </a:r>
            <a:endParaRPr lang="en-US" sz="1400" dirty="0"/>
          </a:p>
        </p:txBody>
      </p:sp>
      <p:sp>
        <p:nvSpPr>
          <p:cNvPr id="14" name="Text 12"/>
          <p:cNvSpPr txBox="1"/>
          <p:nvPr/>
        </p:nvSpPr>
        <p:spPr>
          <a:xfrm>
            <a:off x="1005840" y="3803904"/>
            <a:ext cx="2286000" cy="329184"/>
          </a:xfrm>
          <a:prstGeom prst="rect">
            <a:avLst/>
          </a:prstGeom>
          <a:noFill/>
          <a:ln/>
        </p:spPr>
        <p:txBody>
          <a:bodyPr wrap="square" lIns="0" tIns="0" rIns="0" bIns="0" rtlCol="0" anchor="ctr"/>
          <a:lstStyle/>
          <a:p>
            <a:pPr indent="0" marL="0">
              <a:buNone/>
            </a:pPr>
            <a:r>
              <a:rPr lang="en-US" sz="1400" dirty="0">
                <a:solidFill>
                  <a:srgbClr val="3B4468"/>
                </a:solidFill>
                <a:latin typeface="Calibri" pitchFamily="34" charset="0"/>
                <a:ea typeface="Calibri" pitchFamily="34" charset="-122"/>
                <a:cs typeface="Calibri" pitchFamily="34" charset="-120"/>
              </a:rPr>
              <a:t>LogReg, C = 1</a:t>
            </a:r>
            <a:endParaRPr lang="en-US" sz="1400" dirty="0"/>
          </a:p>
        </p:txBody>
      </p:sp>
      <p:sp>
        <p:nvSpPr>
          <p:cNvPr id="15" name="bar-3"/>
          <p:cNvSpPr/>
          <p:nvPr/>
        </p:nvSpPr>
        <p:spPr>
          <a:xfrm>
            <a:off x="3383280" y="3840480"/>
            <a:ext cx="2903220" cy="256032"/>
          </a:xfrm>
          <a:prstGeom prst="roundRect">
            <a:avLst>
              <a:gd name="adj" fmla="val 21429"/>
            </a:avLst>
          </a:prstGeom>
          <a:solidFill>
            <a:srgbClr val="9AA3D4"/>
          </a:solidFill>
          <a:ln w="12700">
            <a:solidFill>
              <a:srgbClr val="FFFFFF"/>
            </a:solidFill>
            <a:prstDash val="solid"/>
          </a:ln>
        </p:spPr>
      </p:sp>
      <p:sp>
        <p:nvSpPr>
          <p:cNvPr id="16" name="Text 14"/>
          <p:cNvSpPr txBox="1"/>
          <p:nvPr/>
        </p:nvSpPr>
        <p:spPr>
          <a:xfrm>
            <a:off x="6377940" y="3803904"/>
            <a:ext cx="822960" cy="329184"/>
          </a:xfrm>
          <a:prstGeom prst="rect">
            <a:avLst/>
          </a:prstGeom>
          <a:noFill/>
          <a:ln/>
        </p:spPr>
        <p:txBody>
          <a:bodyPr wrap="square" lIns="0" tIns="0" rIns="0" bIns="0" rtlCol="0" anchor="ctr"/>
          <a:lstStyle/>
          <a:p>
            <a:pPr indent="0" marL="0">
              <a:buNone/>
            </a:pPr>
            <a:r>
              <a:rPr lang="en-US" sz="1400" dirty="0">
                <a:solidFill>
                  <a:srgbClr val="3B4468"/>
                </a:solidFill>
                <a:latin typeface="Calibri" pitchFamily="34" charset="0"/>
                <a:ea typeface="Calibri" pitchFamily="34" charset="-122"/>
                <a:cs typeface="Calibri" pitchFamily="34" charset="-120"/>
              </a:rPr>
              <a:t>63.5%</a:t>
            </a:r>
            <a:endParaRPr lang="en-US" sz="1400" dirty="0"/>
          </a:p>
        </p:txBody>
      </p:sp>
      <p:sp>
        <p:nvSpPr>
          <p:cNvPr id="17" name="Text 15"/>
          <p:cNvSpPr txBox="1"/>
          <p:nvPr/>
        </p:nvSpPr>
        <p:spPr>
          <a:xfrm>
            <a:off x="1005840" y="4279392"/>
            <a:ext cx="2286000" cy="329184"/>
          </a:xfrm>
          <a:prstGeom prst="rect">
            <a:avLst/>
          </a:prstGeom>
          <a:noFill/>
          <a:ln/>
        </p:spPr>
        <p:txBody>
          <a:bodyPr wrap="square" lIns="0" tIns="0" rIns="0" bIns="0" rtlCol="0" anchor="ctr"/>
          <a:lstStyle/>
          <a:p>
            <a:pPr indent="0" marL="0">
              <a:buNone/>
            </a:pPr>
            <a:r>
              <a:rPr lang="en-US" sz="1400" dirty="0">
                <a:solidFill>
                  <a:srgbClr val="3B4468"/>
                </a:solidFill>
                <a:latin typeface="Calibri" pitchFamily="34" charset="0"/>
                <a:ea typeface="Calibri" pitchFamily="34" charset="-122"/>
                <a:cs typeface="Calibri" pitchFamily="34" charset="-120"/>
              </a:rPr>
              <a:t>LogReg, C = 0.5</a:t>
            </a:r>
            <a:endParaRPr lang="en-US" sz="1400" dirty="0"/>
          </a:p>
        </p:txBody>
      </p:sp>
      <p:sp>
        <p:nvSpPr>
          <p:cNvPr id="18" name="bar-4"/>
          <p:cNvSpPr/>
          <p:nvPr/>
        </p:nvSpPr>
        <p:spPr>
          <a:xfrm>
            <a:off x="3383280" y="4315968"/>
            <a:ext cx="2871216" cy="256032"/>
          </a:xfrm>
          <a:prstGeom prst="roundRect">
            <a:avLst>
              <a:gd name="adj" fmla="val 21429"/>
            </a:avLst>
          </a:prstGeom>
          <a:solidFill>
            <a:srgbClr val="9AA3D4"/>
          </a:solidFill>
          <a:ln w="12700">
            <a:solidFill>
              <a:srgbClr val="FFFFFF"/>
            </a:solidFill>
            <a:prstDash val="solid"/>
          </a:ln>
        </p:spPr>
      </p:sp>
      <p:sp>
        <p:nvSpPr>
          <p:cNvPr id="19" name="Text 17"/>
          <p:cNvSpPr txBox="1"/>
          <p:nvPr/>
        </p:nvSpPr>
        <p:spPr>
          <a:xfrm>
            <a:off x="6345936" y="4279392"/>
            <a:ext cx="822960" cy="329184"/>
          </a:xfrm>
          <a:prstGeom prst="rect">
            <a:avLst/>
          </a:prstGeom>
          <a:noFill/>
          <a:ln/>
        </p:spPr>
        <p:txBody>
          <a:bodyPr wrap="square" lIns="0" tIns="0" rIns="0" bIns="0" rtlCol="0" anchor="ctr"/>
          <a:lstStyle/>
          <a:p>
            <a:pPr indent="0" marL="0">
              <a:buNone/>
            </a:pPr>
            <a:r>
              <a:rPr lang="en-US" sz="1400" dirty="0">
                <a:solidFill>
                  <a:srgbClr val="3B4468"/>
                </a:solidFill>
                <a:latin typeface="Calibri" pitchFamily="34" charset="0"/>
                <a:ea typeface="Calibri" pitchFamily="34" charset="-122"/>
                <a:cs typeface="Calibri" pitchFamily="34" charset="-120"/>
              </a:rPr>
              <a:t>62.8%</a:t>
            </a:r>
            <a:endParaRPr lang="en-US" sz="1400" dirty="0"/>
          </a:p>
        </p:txBody>
      </p:sp>
      <p:sp>
        <p:nvSpPr>
          <p:cNvPr id="20" name="Text 18"/>
          <p:cNvSpPr txBox="1"/>
          <p:nvPr/>
        </p:nvSpPr>
        <p:spPr>
          <a:xfrm>
            <a:off x="1005840" y="4754880"/>
            <a:ext cx="2286000" cy="329184"/>
          </a:xfrm>
          <a:prstGeom prst="rect">
            <a:avLst/>
          </a:prstGeom>
          <a:noFill/>
          <a:ln/>
        </p:spPr>
        <p:txBody>
          <a:bodyPr wrap="square" lIns="0" tIns="0" rIns="0" bIns="0" rtlCol="0" anchor="ctr"/>
          <a:lstStyle/>
          <a:p>
            <a:pPr indent="0" marL="0">
              <a:buNone/>
            </a:pPr>
            <a:r>
              <a:rPr lang="en-US" sz="1400" dirty="0">
                <a:solidFill>
                  <a:srgbClr val="3B4468"/>
                </a:solidFill>
                <a:latin typeface="Calibri" pitchFamily="34" charset="0"/>
                <a:ea typeface="Calibri" pitchFamily="34" charset="-122"/>
                <a:cs typeface="Calibri" pitchFamily="34" charset="-120"/>
              </a:rPr>
              <a:t>Naive Bayes, alpha 0.3</a:t>
            </a:r>
            <a:endParaRPr lang="en-US" sz="1400" dirty="0"/>
          </a:p>
        </p:txBody>
      </p:sp>
      <p:sp>
        <p:nvSpPr>
          <p:cNvPr id="21" name="bar-5"/>
          <p:cNvSpPr/>
          <p:nvPr/>
        </p:nvSpPr>
        <p:spPr>
          <a:xfrm>
            <a:off x="3383280" y="4791456"/>
            <a:ext cx="2761488" cy="256032"/>
          </a:xfrm>
          <a:prstGeom prst="roundRect">
            <a:avLst>
              <a:gd name="adj" fmla="val 21429"/>
            </a:avLst>
          </a:prstGeom>
          <a:solidFill>
            <a:srgbClr val="C9CEE8"/>
          </a:solidFill>
          <a:ln w="12700">
            <a:solidFill>
              <a:srgbClr val="FFFFFF"/>
            </a:solidFill>
            <a:prstDash val="solid"/>
          </a:ln>
        </p:spPr>
      </p:sp>
      <p:sp>
        <p:nvSpPr>
          <p:cNvPr id="22" name="Text 20"/>
          <p:cNvSpPr txBox="1"/>
          <p:nvPr/>
        </p:nvSpPr>
        <p:spPr>
          <a:xfrm>
            <a:off x="6236208" y="4754880"/>
            <a:ext cx="822960" cy="329184"/>
          </a:xfrm>
          <a:prstGeom prst="rect">
            <a:avLst/>
          </a:prstGeom>
          <a:noFill/>
          <a:ln/>
        </p:spPr>
        <p:txBody>
          <a:bodyPr wrap="square" lIns="0" tIns="0" rIns="0" bIns="0" rtlCol="0" anchor="ctr"/>
          <a:lstStyle/>
          <a:p>
            <a:pPr indent="0" marL="0">
              <a:buNone/>
            </a:pPr>
            <a:r>
              <a:rPr lang="en-US" sz="1400" dirty="0">
                <a:solidFill>
                  <a:srgbClr val="3B4468"/>
                </a:solidFill>
                <a:latin typeface="Calibri" pitchFamily="34" charset="0"/>
                <a:ea typeface="Calibri" pitchFamily="34" charset="-122"/>
                <a:cs typeface="Calibri" pitchFamily="34" charset="-120"/>
              </a:rPr>
              <a:t>60.4%</a:t>
            </a:r>
            <a:endParaRPr lang="en-US" sz="1400" dirty="0"/>
          </a:p>
        </p:txBody>
      </p:sp>
      <p:sp>
        <p:nvSpPr>
          <p:cNvPr id="23" name="Text 21"/>
          <p:cNvSpPr txBox="1"/>
          <p:nvPr/>
        </p:nvSpPr>
        <p:spPr>
          <a:xfrm>
            <a:off x="1005840" y="5230368"/>
            <a:ext cx="2286000" cy="329184"/>
          </a:xfrm>
          <a:prstGeom prst="rect">
            <a:avLst/>
          </a:prstGeom>
          <a:noFill/>
          <a:ln/>
        </p:spPr>
        <p:txBody>
          <a:bodyPr wrap="square" lIns="0" tIns="0" rIns="0" bIns="0" rtlCol="0" anchor="ctr"/>
          <a:lstStyle/>
          <a:p>
            <a:pPr indent="0" marL="0">
              <a:buNone/>
            </a:pPr>
            <a:r>
              <a:rPr lang="en-US" sz="1400" dirty="0">
                <a:solidFill>
                  <a:srgbClr val="3B4468"/>
                </a:solidFill>
                <a:latin typeface="Calibri" pitchFamily="34" charset="0"/>
                <a:ea typeface="Calibri" pitchFamily="34" charset="-122"/>
                <a:cs typeface="Calibri" pitchFamily="34" charset="-120"/>
              </a:rPr>
              <a:t>Naive Bayes, alpha 1.0</a:t>
            </a:r>
            <a:endParaRPr lang="en-US" sz="1400" dirty="0"/>
          </a:p>
        </p:txBody>
      </p:sp>
      <p:sp>
        <p:nvSpPr>
          <p:cNvPr id="24" name="bar-6"/>
          <p:cNvSpPr/>
          <p:nvPr/>
        </p:nvSpPr>
        <p:spPr>
          <a:xfrm>
            <a:off x="3383280" y="5266944"/>
            <a:ext cx="2743200" cy="256032"/>
          </a:xfrm>
          <a:prstGeom prst="roundRect">
            <a:avLst>
              <a:gd name="adj" fmla="val 21429"/>
            </a:avLst>
          </a:prstGeom>
          <a:solidFill>
            <a:srgbClr val="C9CEE8"/>
          </a:solidFill>
          <a:ln w="12700">
            <a:solidFill>
              <a:srgbClr val="FFFFFF"/>
            </a:solidFill>
            <a:prstDash val="solid"/>
          </a:ln>
        </p:spPr>
      </p:sp>
      <p:sp>
        <p:nvSpPr>
          <p:cNvPr id="25" name="Text 23"/>
          <p:cNvSpPr txBox="1"/>
          <p:nvPr/>
        </p:nvSpPr>
        <p:spPr>
          <a:xfrm>
            <a:off x="6217920" y="5230368"/>
            <a:ext cx="822960" cy="329184"/>
          </a:xfrm>
          <a:prstGeom prst="rect">
            <a:avLst/>
          </a:prstGeom>
          <a:noFill/>
          <a:ln/>
        </p:spPr>
        <p:txBody>
          <a:bodyPr wrap="square" lIns="0" tIns="0" rIns="0" bIns="0" rtlCol="0" anchor="ctr"/>
          <a:lstStyle/>
          <a:p>
            <a:pPr indent="0" marL="0">
              <a:buNone/>
            </a:pPr>
            <a:r>
              <a:rPr lang="en-US" sz="1400" dirty="0">
                <a:solidFill>
                  <a:srgbClr val="3B4468"/>
                </a:solidFill>
                <a:latin typeface="Calibri" pitchFamily="34" charset="0"/>
                <a:ea typeface="Calibri" pitchFamily="34" charset="-122"/>
                <a:cs typeface="Calibri" pitchFamily="34" charset="-120"/>
              </a:rPr>
              <a:t>60.0%</a:t>
            </a:r>
            <a:endParaRPr lang="en-US" sz="1400" dirty="0"/>
          </a:p>
        </p:txBody>
      </p:sp>
      <p:sp>
        <p:nvSpPr>
          <p:cNvPr id="26" name="card"/>
          <p:cNvSpPr/>
          <p:nvPr/>
        </p:nvSpPr>
        <p:spPr>
          <a:xfrm>
            <a:off x="7863840" y="1691640"/>
            <a:ext cx="3703320" cy="4206240"/>
          </a:xfrm>
          <a:prstGeom prst="roundRect">
            <a:avLst>
              <a:gd name="adj" fmla="val 3457"/>
            </a:avLst>
          </a:prstGeom>
          <a:solidFill>
            <a:srgbClr val="0E1330"/>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27" name="Text 25"/>
          <p:cNvSpPr txBox="1"/>
          <p:nvPr/>
        </p:nvSpPr>
        <p:spPr>
          <a:xfrm>
            <a:off x="8183880" y="1874520"/>
            <a:ext cx="3108960" cy="365760"/>
          </a:xfrm>
          <a:prstGeom prst="rect">
            <a:avLst/>
          </a:prstGeom>
          <a:noFill/>
          <a:ln/>
        </p:spPr>
        <p:txBody>
          <a:bodyPr wrap="square" lIns="0" tIns="0" rIns="0" bIns="0" rtlCol="0" anchor="t"/>
          <a:lstStyle/>
          <a:p>
            <a:pPr indent="0" marL="0">
              <a:buNone/>
            </a:pPr>
            <a:r>
              <a:rPr lang="en-US" sz="1600" b="1" dirty="0">
                <a:solidFill>
                  <a:srgbClr val="A9B0D8"/>
                </a:solidFill>
                <a:latin typeface="Calibri" pitchFamily="34" charset="0"/>
                <a:ea typeface="Calibri" pitchFamily="34" charset="-122"/>
                <a:cs typeface="Calibri" pitchFamily="34" charset="-120"/>
              </a:rPr>
              <a:t>Validation vs test</a:t>
            </a:r>
            <a:endParaRPr lang="en-US" sz="1600" dirty="0"/>
          </a:p>
        </p:txBody>
      </p:sp>
      <p:sp>
        <p:nvSpPr>
          <p:cNvPr id="28" name="Text 26"/>
          <p:cNvSpPr txBox="1"/>
          <p:nvPr/>
        </p:nvSpPr>
        <p:spPr>
          <a:xfrm>
            <a:off x="8183880" y="2377440"/>
            <a:ext cx="3108960" cy="822960"/>
          </a:xfrm>
          <a:prstGeom prst="rect">
            <a:avLst/>
          </a:prstGeom>
          <a:noFill/>
          <a:ln/>
        </p:spPr>
        <p:txBody>
          <a:bodyPr wrap="square" lIns="0" tIns="0" rIns="0" bIns="0" rtlCol="0" anchor="t"/>
          <a:lstStyle/>
          <a:p>
            <a:pPr indent="0" marL="0">
              <a:buNone/>
            </a:pPr>
            <a:r>
              <a:rPr lang="en-US" sz="5400" b="1" dirty="0">
                <a:solidFill>
                  <a:srgbClr val="3DF0A5"/>
                </a:solidFill>
                <a:latin typeface="Cambria" pitchFamily="34" charset="0"/>
                <a:ea typeface="Cambria" pitchFamily="34" charset="-122"/>
                <a:cs typeface="Cambria" pitchFamily="34" charset="-120"/>
              </a:rPr>
              <a:t>65.6%</a:t>
            </a:r>
            <a:endParaRPr lang="en-US" sz="5400" dirty="0"/>
          </a:p>
        </p:txBody>
      </p:sp>
      <p:sp>
        <p:nvSpPr>
          <p:cNvPr id="29" name="Text 27"/>
          <p:cNvSpPr txBox="1"/>
          <p:nvPr/>
        </p:nvSpPr>
        <p:spPr>
          <a:xfrm>
            <a:off x="8183880" y="3200400"/>
            <a:ext cx="3108960" cy="548640"/>
          </a:xfrm>
          <a:prstGeom prst="rect">
            <a:avLst/>
          </a:prstGeom>
          <a:noFill/>
          <a:ln/>
        </p:spPr>
        <p:txBody>
          <a:bodyPr wrap="square" lIns="0" tIns="0" rIns="0" bIns="0" rtlCol="0" anchor="t"/>
          <a:lstStyle/>
          <a:p>
            <a:pPr indent="0" marL="0">
              <a:buNone/>
            </a:pPr>
            <a:r>
              <a:rPr lang="en-US" sz="1400" dirty="0">
                <a:solidFill>
                  <a:srgbClr val="CFD4F2"/>
                </a:solidFill>
                <a:latin typeface="Calibri" pitchFamily="34" charset="0"/>
                <a:ea typeface="Calibri" pitchFamily="34" charset="-122"/>
                <a:cs typeface="Calibri" pitchFamily="34" charset="-120"/>
              </a:rPr>
              <a:t>F1 on validation texts, used to pick the model</a:t>
            </a:r>
            <a:endParaRPr lang="en-US" sz="1400" dirty="0"/>
          </a:p>
        </p:txBody>
      </p:sp>
      <p:sp>
        <p:nvSpPr>
          <p:cNvPr id="30" name="Text 28"/>
          <p:cNvSpPr txBox="1"/>
          <p:nvPr/>
        </p:nvSpPr>
        <p:spPr>
          <a:xfrm>
            <a:off x="8183880" y="3886200"/>
            <a:ext cx="3108960" cy="82296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58.4%</a:t>
            </a:r>
            <a:endParaRPr lang="en-US" sz="5400" dirty="0"/>
          </a:p>
        </p:txBody>
      </p:sp>
      <p:sp>
        <p:nvSpPr>
          <p:cNvPr id="31" name="Text 29"/>
          <p:cNvSpPr txBox="1"/>
          <p:nvPr/>
        </p:nvSpPr>
        <p:spPr>
          <a:xfrm>
            <a:off x="8183880" y="4709160"/>
            <a:ext cx="3108960" cy="731520"/>
          </a:xfrm>
          <a:prstGeom prst="rect">
            <a:avLst/>
          </a:prstGeom>
          <a:noFill/>
          <a:ln/>
        </p:spPr>
        <p:txBody>
          <a:bodyPr wrap="square" lIns="0" tIns="0" rIns="0" bIns="0" rtlCol="0" anchor="t"/>
          <a:lstStyle/>
          <a:p>
            <a:pPr indent="0" marL="0">
              <a:buNone/>
            </a:pPr>
            <a:r>
              <a:rPr lang="en-US" sz="1400" dirty="0">
                <a:solidFill>
                  <a:srgbClr val="CFD4F2"/>
                </a:solidFill>
                <a:latin typeface="Calibri" pitchFamily="34" charset="0"/>
                <a:ea typeface="Calibri" pitchFamily="34" charset="-122"/>
                <a:cs typeface="Calibri" pitchFamily="34" charset="-120"/>
              </a:rPr>
              <a:t>F1 on the untouched test texts: the honest estimate</a:t>
            </a:r>
            <a:endParaRPr lang="en-US" sz="14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640080" y="411480"/>
            <a:ext cx="1091153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mbria" pitchFamily="34" charset="0"/>
                <a:ea typeface="Cambria" pitchFamily="34" charset="-122"/>
                <a:cs typeface="Cambria" pitchFamily="34" charset="-120"/>
              </a:rPr>
              <a:t>A small, clear Python API</a:t>
            </a:r>
            <a:endParaRPr lang="en-US" sz="3600" dirty="0"/>
          </a:p>
        </p:txBody>
      </p:sp>
      <p:sp>
        <p:nvSpPr>
          <p:cNvPr id="3" name="card"/>
          <p:cNvSpPr/>
          <p:nvPr/>
        </p:nvSpPr>
        <p:spPr>
          <a:xfrm>
            <a:off x="640080" y="1691640"/>
            <a:ext cx="5394960" cy="822960"/>
          </a:xfrm>
          <a:prstGeom prst="roundRect">
            <a:avLst>
              <a:gd name="adj" fmla="val 15556"/>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4" name="method"/>
          <p:cNvSpPr/>
          <p:nvPr/>
        </p:nvSpPr>
        <p:spPr>
          <a:xfrm>
            <a:off x="868680" y="1892808"/>
            <a:ext cx="777240" cy="420624"/>
          </a:xfrm>
          <a:prstGeom prst="roundRect">
            <a:avLst>
              <a:gd name="adj" fmla="val 21739"/>
            </a:avLst>
          </a:prstGeom>
          <a:solidFill>
            <a:srgbClr val="5B4BE0"/>
          </a:solidFill>
          <a:ln w="12700">
            <a:solidFill>
              <a:srgbClr val="FFFFFF"/>
            </a:solidFill>
            <a:prstDash val="solid"/>
          </a:ln>
        </p:spPr>
      </p:sp>
      <p:sp>
        <p:nvSpPr>
          <p:cNvPr id="5" name="Text 3"/>
          <p:cNvSpPr txBox="1"/>
          <p:nvPr/>
        </p:nvSpPr>
        <p:spPr>
          <a:xfrm>
            <a:off x="868680" y="1892808"/>
            <a:ext cx="77724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POST</a:t>
            </a:r>
            <a:endParaRPr lang="en-US" sz="1300" dirty="0"/>
          </a:p>
        </p:txBody>
      </p:sp>
      <p:sp>
        <p:nvSpPr>
          <p:cNvPr id="6" name="Text 4"/>
          <p:cNvSpPr txBox="1"/>
          <p:nvPr/>
        </p:nvSpPr>
        <p:spPr>
          <a:xfrm>
            <a:off x="1828800" y="1801368"/>
            <a:ext cx="2194560" cy="365760"/>
          </a:xfrm>
          <a:prstGeom prst="rect">
            <a:avLst/>
          </a:prstGeom>
          <a:noFill/>
          <a:ln/>
        </p:spPr>
        <p:txBody>
          <a:bodyPr wrap="square" lIns="0" tIns="0" rIns="0" bIns="0" rtlCol="0" anchor="t"/>
          <a:lstStyle/>
          <a:p>
            <a:pPr indent="0" marL="0">
              <a:buNone/>
            </a:pPr>
            <a:r>
              <a:rPr lang="en-US" sz="1600" b="1" dirty="0">
                <a:solidFill>
                  <a:srgbClr val="0E1330"/>
                </a:solidFill>
                <a:latin typeface="Courier New" pitchFamily="34" charset="0"/>
                <a:ea typeface="Courier New" pitchFamily="34" charset="-122"/>
                <a:cs typeface="Courier New" pitchFamily="34" charset="-120"/>
              </a:rPr>
              <a:t>/api/predict</a:t>
            </a:r>
            <a:endParaRPr lang="en-US" sz="1600" dirty="0"/>
          </a:p>
        </p:txBody>
      </p:sp>
      <p:sp>
        <p:nvSpPr>
          <p:cNvPr id="7" name="Text 5"/>
          <p:cNvSpPr txBox="1"/>
          <p:nvPr/>
        </p:nvSpPr>
        <p:spPr>
          <a:xfrm>
            <a:off x="1828800" y="2148840"/>
            <a:ext cx="4023360" cy="274320"/>
          </a:xfrm>
          <a:prstGeom prst="rect">
            <a:avLst/>
          </a:prstGeom>
          <a:noFill/>
          <a:ln/>
        </p:spPr>
        <p:txBody>
          <a:bodyPr wrap="square" lIns="0" tIns="0" rIns="0" bIns="0" rtlCol="0" anchor="t"/>
          <a:lstStyle/>
          <a:p>
            <a:pPr indent="0" marL="0">
              <a:buNone/>
            </a:pPr>
            <a:r>
              <a:rPr lang="en-US" sz="1300" dirty="0">
                <a:solidFill>
                  <a:srgbClr val="5A6385"/>
                </a:solidFill>
                <a:latin typeface="Calibri" pitchFamily="34" charset="0"/>
                <a:ea typeface="Calibri" pitchFamily="34" charset="-122"/>
                <a:cs typeface="Calibri" pitchFamily="34" charset="-120"/>
              </a:rPr>
              <a:t>Text in, sentiment out</a:t>
            </a:r>
            <a:endParaRPr lang="en-US" sz="1300" dirty="0"/>
          </a:p>
        </p:txBody>
      </p:sp>
      <p:sp>
        <p:nvSpPr>
          <p:cNvPr id="8" name="card"/>
          <p:cNvSpPr/>
          <p:nvPr/>
        </p:nvSpPr>
        <p:spPr>
          <a:xfrm>
            <a:off x="640080" y="2697480"/>
            <a:ext cx="5394960" cy="822960"/>
          </a:xfrm>
          <a:prstGeom prst="roundRect">
            <a:avLst>
              <a:gd name="adj" fmla="val 15556"/>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9" name="method"/>
          <p:cNvSpPr/>
          <p:nvPr/>
        </p:nvSpPr>
        <p:spPr>
          <a:xfrm>
            <a:off x="868680" y="2898648"/>
            <a:ext cx="777240" cy="420624"/>
          </a:xfrm>
          <a:prstGeom prst="roundRect">
            <a:avLst>
              <a:gd name="adj" fmla="val 21739"/>
            </a:avLst>
          </a:prstGeom>
          <a:solidFill>
            <a:srgbClr val="0B9E65"/>
          </a:solidFill>
          <a:ln w="12700">
            <a:solidFill>
              <a:srgbClr val="FFFFFF"/>
            </a:solidFill>
            <a:prstDash val="solid"/>
          </a:ln>
        </p:spPr>
      </p:sp>
      <p:sp>
        <p:nvSpPr>
          <p:cNvPr id="10" name="Text 8"/>
          <p:cNvSpPr txBox="1"/>
          <p:nvPr/>
        </p:nvSpPr>
        <p:spPr>
          <a:xfrm>
            <a:off x="868680" y="2898648"/>
            <a:ext cx="77724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GET</a:t>
            </a:r>
            <a:endParaRPr lang="en-US" sz="1300" dirty="0"/>
          </a:p>
        </p:txBody>
      </p:sp>
      <p:sp>
        <p:nvSpPr>
          <p:cNvPr id="11" name="Text 9"/>
          <p:cNvSpPr txBox="1"/>
          <p:nvPr/>
        </p:nvSpPr>
        <p:spPr>
          <a:xfrm>
            <a:off x="1828800" y="2807208"/>
            <a:ext cx="2194560" cy="365760"/>
          </a:xfrm>
          <a:prstGeom prst="rect">
            <a:avLst/>
          </a:prstGeom>
          <a:noFill/>
          <a:ln/>
        </p:spPr>
        <p:txBody>
          <a:bodyPr wrap="square" lIns="0" tIns="0" rIns="0" bIns="0" rtlCol="0" anchor="t"/>
          <a:lstStyle/>
          <a:p>
            <a:pPr indent="0" marL="0">
              <a:buNone/>
            </a:pPr>
            <a:r>
              <a:rPr lang="en-US" sz="1600" b="1" dirty="0">
                <a:solidFill>
                  <a:srgbClr val="0E1330"/>
                </a:solidFill>
                <a:latin typeface="Courier New" pitchFamily="34" charset="0"/>
                <a:ea typeface="Courier New" pitchFamily="34" charset="-122"/>
                <a:cs typeface="Courier New" pitchFamily="34" charset="-120"/>
              </a:rPr>
              <a:t>/api/model-info</a:t>
            </a:r>
            <a:endParaRPr lang="en-US" sz="1600" dirty="0"/>
          </a:p>
        </p:txBody>
      </p:sp>
      <p:sp>
        <p:nvSpPr>
          <p:cNvPr id="12" name="Text 10"/>
          <p:cNvSpPr txBox="1"/>
          <p:nvPr/>
        </p:nvSpPr>
        <p:spPr>
          <a:xfrm>
            <a:off x="1828800" y="3154680"/>
            <a:ext cx="4023360" cy="274320"/>
          </a:xfrm>
          <a:prstGeom prst="rect">
            <a:avLst/>
          </a:prstGeom>
          <a:noFill/>
          <a:ln/>
        </p:spPr>
        <p:txBody>
          <a:bodyPr wrap="square" lIns="0" tIns="0" rIns="0" bIns="0" rtlCol="0" anchor="t"/>
          <a:lstStyle/>
          <a:p>
            <a:pPr indent="0" marL="0">
              <a:buNone/>
            </a:pPr>
            <a:r>
              <a:rPr lang="en-US" sz="1300" dirty="0">
                <a:solidFill>
                  <a:srgbClr val="5A6385"/>
                </a:solidFill>
                <a:latin typeface="Calibri" pitchFamily="34" charset="0"/>
                <a:ea typeface="Calibri" pitchFamily="34" charset="-122"/>
                <a:cs typeface="Calibri" pitchFamily="34" charset="-120"/>
              </a:rPr>
              <a:t>Dataset and test metrics</a:t>
            </a:r>
            <a:endParaRPr lang="en-US" sz="1300" dirty="0"/>
          </a:p>
        </p:txBody>
      </p:sp>
      <p:sp>
        <p:nvSpPr>
          <p:cNvPr id="13" name="card"/>
          <p:cNvSpPr/>
          <p:nvPr/>
        </p:nvSpPr>
        <p:spPr>
          <a:xfrm>
            <a:off x="640080" y="3703320"/>
            <a:ext cx="5394960" cy="822960"/>
          </a:xfrm>
          <a:prstGeom prst="roundRect">
            <a:avLst>
              <a:gd name="adj" fmla="val 15556"/>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4" name="method"/>
          <p:cNvSpPr/>
          <p:nvPr/>
        </p:nvSpPr>
        <p:spPr>
          <a:xfrm>
            <a:off x="868680" y="3904488"/>
            <a:ext cx="777240" cy="420624"/>
          </a:xfrm>
          <a:prstGeom prst="roundRect">
            <a:avLst>
              <a:gd name="adj" fmla="val 21739"/>
            </a:avLst>
          </a:prstGeom>
          <a:solidFill>
            <a:srgbClr val="0B9E65"/>
          </a:solidFill>
          <a:ln w="12700">
            <a:solidFill>
              <a:srgbClr val="FFFFFF"/>
            </a:solidFill>
            <a:prstDash val="solid"/>
          </a:ln>
        </p:spPr>
      </p:sp>
      <p:sp>
        <p:nvSpPr>
          <p:cNvPr id="15" name="Text 13"/>
          <p:cNvSpPr txBox="1"/>
          <p:nvPr/>
        </p:nvSpPr>
        <p:spPr>
          <a:xfrm>
            <a:off x="868680" y="3904488"/>
            <a:ext cx="77724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GET</a:t>
            </a:r>
            <a:endParaRPr lang="en-US" sz="1300" dirty="0"/>
          </a:p>
        </p:txBody>
      </p:sp>
      <p:sp>
        <p:nvSpPr>
          <p:cNvPr id="16" name="Text 14"/>
          <p:cNvSpPr txBox="1"/>
          <p:nvPr/>
        </p:nvSpPr>
        <p:spPr>
          <a:xfrm>
            <a:off x="1828800" y="3813048"/>
            <a:ext cx="2194560" cy="365760"/>
          </a:xfrm>
          <a:prstGeom prst="rect">
            <a:avLst/>
          </a:prstGeom>
          <a:noFill/>
          <a:ln/>
        </p:spPr>
        <p:txBody>
          <a:bodyPr wrap="square" lIns="0" tIns="0" rIns="0" bIns="0" rtlCol="0" anchor="t"/>
          <a:lstStyle/>
          <a:p>
            <a:pPr indent="0" marL="0">
              <a:buNone/>
            </a:pPr>
            <a:r>
              <a:rPr lang="en-US" sz="1600" b="1" dirty="0">
                <a:solidFill>
                  <a:srgbClr val="0E1330"/>
                </a:solidFill>
                <a:latin typeface="Courier New" pitchFamily="34" charset="0"/>
                <a:ea typeface="Courier New" pitchFamily="34" charset="-122"/>
                <a:cs typeface="Courier New" pitchFamily="34" charset="-120"/>
              </a:rPr>
              <a:t>/api/health</a:t>
            </a:r>
            <a:endParaRPr lang="en-US" sz="1600" dirty="0"/>
          </a:p>
        </p:txBody>
      </p:sp>
      <p:sp>
        <p:nvSpPr>
          <p:cNvPr id="17" name="Text 15"/>
          <p:cNvSpPr txBox="1"/>
          <p:nvPr/>
        </p:nvSpPr>
        <p:spPr>
          <a:xfrm>
            <a:off x="1828800" y="4160520"/>
            <a:ext cx="4023360" cy="274320"/>
          </a:xfrm>
          <a:prstGeom prst="rect">
            <a:avLst/>
          </a:prstGeom>
          <a:noFill/>
          <a:ln/>
        </p:spPr>
        <p:txBody>
          <a:bodyPr wrap="square" lIns="0" tIns="0" rIns="0" bIns="0" rtlCol="0" anchor="t"/>
          <a:lstStyle/>
          <a:p>
            <a:pPr indent="0" marL="0">
              <a:buNone/>
            </a:pPr>
            <a:r>
              <a:rPr lang="en-US" sz="1300" dirty="0">
                <a:solidFill>
                  <a:srgbClr val="5A6385"/>
                </a:solidFill>
                <a:latin typeface="Calibri" pitchFamily="34" charset="0"/>
                <a:ea typeface="Calibri" pitchFamily="34" charset="-122"/>
                <a:cs typeface="Calibri" pitchFamily="34" charset="-120"/>
              </a:rPr>
              <a:t>Is the model loaded?</a:t>
            </a:r>
            <a:endParaRPr lang="en-US" sz="1300" dirty="0"/>
          </a:p>
        </p:txBody>
      </p:sp>
      <p:sp>
        <p:nvSpPr>
          <p:cNvPr id="18" name="Text 16"/>
          <p:cNvSpPr txBox="1"/>
          <p:nvPr/>
        </p:nvSpPr>
        <p:spPr>
          <a:xfrm>
            <a:off x="640080" y="4846320"/>
            <a:ext cx="5394960" cy="1097280"/>
          </a:xfrm>
          <a:prstGeom prst="rect">
            <a:avLst/>
          </a:prstGeom>
          <a:noFill/>
          <a:ln/>
        </p:spPr>
        <p:txBody>
          <a:bodyPr wrap="square" lIns="0" tIns="0" rIns="0" bIns="0" rtlCol="0" anchor="t"/>
          <a:lstStyle/>
          <a:p>
            <a:pPr indent="0" marL="0">
              <a:buNone/>
            </a:pPr>
            <a:r>
              <a:rPr lang="en-US" sz="1500" dirty="0">
                <a:solidFill>
                  <a:srgbClr val="3B4468"/>
                </a:solidFill>
                <a:latin typeface="Calibri" pitchFamily="34" charset="0"/>
                <a:ea typeface="Calibri" pitchFamily="34" charset="-122"/>
                <a:cs typeface="Calibri" pitchFamily="34" charset="-120"/>
              </a:rPr>
              <a:t>Input must be 3 to 1000 characters with letters. Every error is JSON with a code and a message (400, 404, 405, 413, 503, 500).</a:t>
            </a:r>
            <a:endParaRPr lang="en-US" sz="1500" dirty="0"/>
          </a:p>
        </p:txBody>
      </p:sp>
      <p:sp>
        <p:nvSpPr>
          <p:cNvPr id="19" name="code-card"/>
          <p:cNvSpPr/>
          <p:nvPr/>
        </p:nvSpPr>
        <p:spPr>
          <a:xfrm>
            <a:off x="6309360" y="1691640"/>
            <a:ext cx="5257800" cy="4206240"/>
          </a:xfrm>
          <a:prstGeom prst="roundRect">
            <a:avLst>
              <a:gd name="adj" fmla="val 3043"/>
            </a:avLst>
          </a:prstGeom>
          <a:solidFill>
            <a:srgbClr val="0E1330"/>
          </a:solidFill>
          <a:ln w="12700">
            <a:solidFill>
              <a:srgbClr val="0E1330"/>
            </a:solidFill>
            <a:prstDash val="solid"/>
          </a:ln>
        </p:spPr>
      </p:sp>
      <p:sp>
        <p:nvSpPr>
          <p:cNvPr id="20" name="Text 18"/>
          <p:cNvSpPr txBox="1"/>
          <p:nvPr/>
        </p:nvSpPr>
        <p:spPr>
          <a:xfrm>
            <a:off x="6675120" y="1874520"/>
            <a:ext cx="2743200" cy="320040"/>
          </a:xfrm>
          <a:prstGeom prst="rect">
            <a:avLst/>
          </a:prstGeom>
          <a:noFill/>
          <a:ln/>
        </p:spPr>
        <p:txBody>
          <a:bodyPr wrap="square" lIns="0" tIns="0" rIns="0" bIns="0" rtlCol="0" anchor="t"/>
          <a:lstStyle/>
          <a:p>
            <a:pPr indent="0" marL="0">
              <a:buNone/>
            </a:pPr>
            <a:r>
              <a:rPr lang="en-US" sz="1300" dirty="0">
                <a:solidFill>
                  <a:srgbClr val="A9B0D8"/>
                </a:solidFill>
                <a:latin typeface="Calibri" pitchFamily="34" charset="0"/>
                <a:ea typeface="Calibri" pitchFamily="34" charset="-122"/>
                <a:cs typeface="Calibri" pitchFamily="34" charset="-120"/>
              </a:rPr>
              <a:t>Response</a:t>
            </a:r>
            <a:endParaRPr lang="en-US" sz="1300" dirty="0"/>
          </a:p>
        </p:txBody>
      </p:sp>
      <p:sp>
        <p:nvSpPr>
          <p:cNvPr id="21" name="Text 19"/>
          <p:cNvSpPr txBox="1"/>
          <p:nvPr/>
        </p:nvSpPr>
        <p:spPr>
          <a:xfrm>
            <a:off x="6675120" y="2286000"/>
            <a:ext cx="4754880" cy="3474720"/>
          </a:xfrm>
          <a:prstGeom prst="rect">
            <a:avLst/>
          </a:prstGeom>
          <a:noFill/>
          <a:ln/>
        </p:spPr>
        <p:txBody>
          <a:bodyPr wrap="square" lIns="0" tIns="0" rIns="0" bIns="0" rtlCol="0" anchor="t"/>
          <a:lstStyle/>
          <a:p>
            <a:pPr indent="0" marL="0">
              <a:buNone/>
            </a:pPr>
            <a:r>
              <a:rPr lang="en-US" sz="1400" dirty="0">
                <a:solidFill>
                  <a:srgbClr val="3DF0A5"/>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3DF0A5"/>
                </a:solidFill>
                <a:latin typeface="Courier New" pitchFamily="34" charset="0"/>
                <a:ea typeface="Courier New" pitchFamily="34" charset="-122"/>
                <a:cs typeface="Courier New" pitchFamily="34" charset="-120"/>
              </a:rPr>
              <a:t>  "sentiment": "Positive",</a:t>
            </a:r>
            <a:endParaRPr lang="en-US" sz="1400" dirty="0"/>
          </a:p>
          <a:p>
            <a:pPr indent="0" marL="0">
              <a:buNone/>
            </a:pPr>
            <a:r>
              <a:rPr lang="en-US" sz="1400" dirty="0">
                <a:solidFill>
                  <a:srgbClr val="3DF0A5"/>
                </a:solidFill>
                <a:latin typeface="Courier New" pitchFamily="34" charset="0"/>
                <a:ea typeface="Courier New" pitchFamily="34" charset="-122"/>
                <a:cs typeface="Courier New" pitchFamily="34" charset="-120"/>
              </a:rPr>
              <a:t>  "confidence": 0.87,</a:t>
            </a:r>
            <a:endParaRPr lang="en-US" sz="1400" dirty="0"/>
          </a:p>
          <a:p>
            <a:pPr indent="0" marL="0">
              <a:buNone/>
            </a:pPr>
            <a:r>
              <a:rPr lang="en-US" sz="1400" dirty="0">
                <a:solidFill>
                  <a:srgbClr val="3DF0A5"/>
                </a:solidFill>
                <a:latin typeface="Courier New" pitchFamily="34" charset="0"/>
                <a:ea typeface="Courier New" pitchFamily="34" charset="-122"/>
                <a:cs typeface="Courier New" pitchFamily="34" charset="-120"/>
              </a:rPr>
              <a:t>  "scores": {</a:t>
            </a:r>
            <a:endParaRPr lang="en-US" sz="1400" dirty="0"/>
          </a:p>
          <a:p>
            <a:pPr indent="0" marL="0">
              <a:buNone/>
            </a:pPr>
            <a:r>
              <a:rPr lang="en-US" sz="1400" dirty="0">
                <a:solidFill>
                  <a:srgbClr val="3DF0A5"/>
                </a:solidFill>
                <a:latin typeface="Courier New" pitchFamily="34" charset="0"/>
                <a:ea typeface="Courier New" pitchFamily="34" charset="-122"/>
                <a:cs typeface="Courier New" pitchFamily="34" charset="-120"/>
              </a:rPr>
              <a:t>    "Negative": 0.04,</a:t>
            </a:r>
            <a:endParaRPr lang="en-US" sz="1400" dirty="0"/>
          </a:p>
          <a:p>
            <a:pPr indent="0" marL="0">
              <a:buNone/>
            </a:pPr>
            <a:r>
              <a:rPr lang="en-US" sz="1400" dirty="0">
                <a:solidFill>
                  <a:srgbClr val="3DF0A5"/>
                </a:solidFill>
                <a:latin typeface="Courier New" pitchFamily="34" charset="0"/>
                <a:ea typeface="Courier New" pitchFamily="34" charset="-122"/>
                <a:cs typeface="Courier New" pitchFamily="34" charset="-120"/>
              </a:rPr>
              <a:t>    "Neutral": 0.09,</a:t>
            </a:r>
            <a:endParaRPr lang="en-US" sz="1400" dirty="0"/>
          </a:p>
          <a:p>
            <a:pPr indent="0" marL="0">
              <a:buNone/>
            </a:pPr>
            <a:r>
              <a:rPr lang="en-US" sz="1400" dirty="0">
                <a:solidFill>
                  <a:srgbClr val="3DF0A5"/>
                </a:solidFill>
                <a:latin typeface="Courier New" pitchFamily="34" charset="0"/>
                <a:ea typeface="Courier New" pitchFamily="34" charset="-122"/>
                <a:cs typeface="Courier New" pitchFamily="34" charset="-120"/>
              </a:rPr>
              <a:t>    "Positive": 0.87</a:t>
            </a:r>
            <a:endParaRPr lang="en-US" sz="1400" dirty="0"/>
          </a:p>
          <a:p>
            <a:pPr indent="0" marL="0">
              <a:buNone/>
            </a:pPr>
            <a:r>
              <a:rPr lang="en-US" sz="1400" dirty="0">
                <a:solidFill>
                  <a:srgbClr val="3DF0A5"/>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3DF0A5"/>
                </a:solidFill>
                <a:latin typeface="Courier New" pitchFamily="34" charset="0"/>
                <a:ea typeface="Courier New" pitchFamily="34" charset="-122"/>
                <a:cs typeface="Courier New" pitchFamily="34" charset="-120"/>
              </a:rPr>
              <a:t>  "keywords": [ { "word": "amazing",</a:t>
            </a:r>
            <a:endParaRPr lang="en-US" sz="1400" dirty="0"/>
          </a:p>
          <a:p>
            <a:pPr indent="0" marL="0">
              <a:buNone/>
            </a:pPr>
            <a:r>
              <a:rPr lang="en-US" sz="1400" dirty="0">
                <a:solidFill>
                  <a:srgbClr val="3DF0A5"/>
                </a:solidFill>
                <a:latin typeface="Courier New" pitchFamily="34" charset="0"/>
                <a:ea typeface="Courier New" pitchFamily="34" charset="-122"/>
                <a:cs typeface="Courier New" pitchFamily="34" charset="-120"/>
              </a:rPr>
              <a:t>    "sentiment": "Positive" } ]</a:t>
            </a:r>
            <a:endParaRPr lang="en-US" sz="1400" dirty="0"/>
          </a:p>
          <a:p>
            <a:pPr indent="0" marL="0">
              <a:buNone/>
            </a:pPr>
            <a:r>
              <a:rPr lang="en-US" sz="1400" dirty="0">
                <a:solidFill>
                  <a:srgbClr val="3DF0A5"/>
                </a:solidFill>
                <a:latin typeface="Courier New" pitchFamily="34" charset="0"/>
                <a:ea typeface="Courier New" pitchFamily="34" charset="-122"/>
                <a:cs typeface="Courier New" pitchFamily="34" charset="-120"/>
              </a:rPr>
              <a:t>}</a:t>
            </a:r>
            <a:endParaRPr lang="en-US" sz="14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640080" y="411480"/>
            <a:ext cx="1091153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mbria" pitchFamily="34" charset="0"/>
                <a:ea typeface="Cambria" pitchFamily="34" charset="-122"/>
                <a:cs typeface="Cambria" pitchFamily="34" charset="-120"/>
              </a:rPr>
              <a:t>A frontend built like a real product</a:t>
            </a:r>
            <a:endParaRPr lang="en-US" sz="3600" dirty="0"/>
          </a:p>
        </p:txBody>
      </p:sp>
      <p:sp>
        <p:nvSpPr>
          <p:cNvPr id="3" name="card"/>
          <p:cNvSpPr/>
          <p:nvPr/>
        </p:nvSpPr>
        <p:spPr>
          <a:xfrm>
            <a:off x="640080" y="1691640"/>
            <a:ext cx="3520440" cy="1965960"/>
          </a:xfrm>
          <a:prstGeom prst="roundRect">
            <a:avLst>
              <a:gd name="adj" fmla="val 6512"/>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4" name="icon-bg"/>
          <p:cNvSpPr/>
          <p:nvPr/>
        </p:nvSpPr>
        <p:spPr>
          <a:xfrm>
            <a:off x="914400" y="1965960"/>
            <a:ext cx="640080" cy="640080"/>
          </a:xfrm>
          <a:prstGeom prst="ellipse">
            <a:avLst/>
          </a:prstGeom>
          <a:solidFill>
            <a:srgbClr val="5B4BE0"/>
          </a:solidFill>
          <a:ln w="12700">
            <a:solidFill>
              <a:srgbClr val="5B4BE0"/>
            </a:solidFill>
            <a:prstDash val="solid"/>
          </a:ln>
        </p:spPr>
      </p:sp>
      <p:pic>
        <p:nvPicPr>
          <p:cNvPr id="5" name="Image 0" descr="Highlighter icon">    </p:cNvPr>
          <p:cNvPicPr>
            <a:picLocks noChangeAspect="1"/>
          </p:cNvPicPr>
          <p:nvPr/>
        </p:nvPicPr>
        <p:blipFill>
          <a:blip r:embed="rId1"/>
          <a:stretch>
            <a:fillRect/>
          </a:stretch>
        </p:blipFill>
        <p:spPr>
          <a:xfrm>
            <a:off x="1074420" y="2125980"/>
            <a:ext cx="320040" cy="320040"/>
          </a:xfrm>
          <a:prstGeom prst="rect">
            <a:avLst/>
          </a:prstGeom>
        </p:spPr>
      </p:pic>
      <p:sp>
        <p:nvSpPr>
          <p:cNvPr id="6" name="Text 3"/>
          <p:cNvSpPr txBox="1"/>
          <p:nvPr/>
        </p:nvSpPr>
        <p:spPr>
          <a:xfrm>
            <a:off x="914400" y="2697480"/>
            <a:ext cx="3017520" cy="365760"/>
          </a:xfrm>
          <a:prstGeom prst="rect">
            <a:avLst/>
          </a:prstGeom>
          <a:noFill/>
          <a:ln/>
        </p:spPr>
        <p:txBody>
          <a:bodyPr wrap="square" lIns="0" tIns="0" rIns="0" bIns="0" rtlCol="0" anchor="t"/>
          <a:lstStyle/>
          <a:p>
            <a:pPr indent="0" marL="0">
              <a:buNone/>
            </a:pPr>
            <a:r>
              <a:rPr lang="en-US" sz="1900" b="1" dirty="0">
                <a:solidFill>
                  <a:srgbClr val="0E1330"/>
                </a:solidFill>
                <a:latin typeface="Calibri" pitchFamily="34" charset="0"/>
                <a:ea typeface="Calibri" pitchFamily="34" charset="-122"/>
                <a:cs typeface="Calibri" pitchFamily="34" charset="-120"/>
              </a:rPr>
              <a:t>Explainable results</a:t>
            </a:r>
            <a:endParaRPr lang="en-US" sz="1900" dirty="0"/>
          </a:p>
        </p:txBody>
      </p:sp>
      <p:sp>
        <p:nvSpPr>
          <p:cNvPr id="7" name="Text 4"/>
          <p:cNvSpPr txBox="1"/>
          <p:nvPr/>
        </p:nvSpPr>
        <p:spPr>
          <a:xfrm>
            <a:off x="914400" y="3063240"/>
            <a:ext cx="3017520" cy="548640"/>
          </a:xfrm>
          <a:prstGeom prst="rect">
            <a:avLst/>
          </a:prstGeom>
          <a:noFill/>
          <a:ln/>
        </p:spPr>
        <p:txBody>
          <a:bodyPr wrap="square" lIns="0" tIns="0" rIns="0" bIns="0" rtlCol="0" anchor="t"/>
          <a:lstStyle/>
          <a:p>
            <a:pPr indent="0" marL="0">
              <a:buNone/>
            </a:pPr>
            <a:r>
              <a:rPr lang="en-US" sz="1400" dirty="0">
                <a:solidFill>
                  <a:srgbClr val="5A6385"/>
                </a:solidFill>
                <a:latin typeface="Calibri" pitchFamily="34" charset="0"/>
                <a:ea typeface="Calibri" pitchFamily="34" charset="-122"/>
                <a:cs typeface="Calibri" pitchFamily="34" charset="-120"/>
              </a:rPr>
              <a:t>Influential words are highlighted in your text</a:t>
            </a:r>
            <a:endParaRPr lang="en-US" sz="1400" dirty="0"/>
          </a:p>
        </p:txBody>
      </p:sp>
      <p:sp>
        <p:nvSpPr>
          <p:cNvPr id="8" name="card"/>
          <p:cNvSpPr/>
          <p:nvPr/>
        </p:nvSpPr>
        <p:spPr>
          <a:xfrm>
            <a:off x="4343400" y="1691640"/>
            <a:ext cx="3520440" cy="1965960"/>
          </a:xfrm>
          <a:prstGeom prst="roundRect">
            <a:avLst>
              <a:gd name="adj" fmla="val 6512"/>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9" name="icon-bg"/>
          <p:cNvSpPr/>
          <p:nvPr/>
        </p:nvSpPr>
        <p:spPr>
          <a:xfrm>
            <a:off x="4617720" y="1965960"/>
            <a:ext cx="640080" cy="640080"/>
          </a:xfrm>
          <a:prstGeom prst="ellipse">
            <a:avLst/>
          </a:prstGeom>
          <a:solidFill>
            <a:srgbClr val="1B2250"/>
          </a:solidFill>
          <a:ln w="12700">
            <a:solidFill>
              <a:srgbClr val="1B2250"/>
            </a:solidFill>
            <a:prstDash val="solid"/>
          </a:ln>
        </p:spPr>
      </p:sp>
      <p:pic>
        <p:nvPicPr>
          <p:cNvPr id="10" name="Image 1" descr="ChartBar icon">    </p:cNvPr>
          <p:cNvPicPr>
            <a:picLocks noChangeAspect="1"/>
          </p:cNvPicPr>
          <p:nvPr/>
        </p:nvPicPr>
        <p:blipFill>
          <a:blip r:embed="rId2"/>
          <a:stretch>
            <a:fillRect/>
          </a:stretch>
        </p:blipFill>
        <p:spPr>
          <a:xfrm>
            <a:off x="4777740" y="2125980"/>
            <a:ext cx="320040" cy="320040"/>
          </a:xfrm>
          <a:prstGeom prst="rect">
            <a:avLst/>
          </a:prstGeom>
        </p:spPr>
      </p:pic>
      <p:sp>
        <p:nvSpPr>
          <p:cNvPr id="11" name="Text 7"/>
          <p:cNvSpPr txBox="1"/>
          <p:nvPr/>
        </p:nvSpPr>
        <p:spPr>
          <a:xfrm>
            <a:off x="4617720" y="2697480"/>
            <a:ext cx="3017520" cy="365760"/>
          </a:xfrm>
          <a:prstGeom prst="rect">
            <a:avLst/>
          </a:prstGeom>
          <a:noFill/>
          <a:ln/>
        </p:spPr>
        <p:txBody>
          <a:bodyPr wrap="square" lIns="0" tIns="0" rIns="0" bIns="0" rtlCol="0" anchor="t"/>
          <a:lstStyle/>
          <a:p>
            <a:pPr indent="0" marL="0">
              <a:buNone/>
            </a:pPr>
            <a:r>
              <a:rPr lang="en-US" sz="1900" b="1" dirty="0">
                <a:solidFill>
                  <a:srgbClr val="0E1330"/>
                </a:solidFill>
                <a:latin typeface="Calibri" pitchFamily="34" charset="0"/>
                <a:ea typeface="Calibri" pitchFamily="34" charset="-122"/>
                <a:cs typeface="Calibri" pitchFamily="34" charset="-120"/>
              </a:rPr>
              <a:t>Live dashboard</a:t>
            </a:r>
            <a:endParaRPr lang="en-US" sz="1900" dirty="0"/>
          </a:p>
        </p:txBody>
      </p:sp>
      <p:sp>
        <p:nvSpPr>
          <p:cNvPr id="12" name="Text 8"/>
          <p:cNvSpPr txBox="1"/>
          <p:nvPr/>
        </p:nvSpPr>
        <p:spPr>
          <a:xfrm>
            <a:off x="4617720" y="3063240"/>
            <a:ext cx="3017520" cy="548640"/>
          </a:xfrm>
          <a:prstGeom prst="rect">
            <a:avLst/>
          </a:prstGeom>
          <a:noFill/>
          <a:ln/>
        </p:spPr>
        <p:txBody>
          <a:bodyPr wrap="square" lIns="0" tIns="0" rIns="0" bIns="0" rtlCol="0" anchor="t"/>
          <a:lstStyle/>
          <a:p>
            <a:pPr indent="0" marL="0">
              <a:buNone/>
            </a:pPr>
            <a:r>
              <a:rPr lang="en-US" sz="1400" dirty="0">
                <a:solidFill>
                  <a:srgbClr val="5A6385"/>
                </a:solidFill>
                <a:latin typeface="Calibri" pitchFamily="34" charset="0"/>
                <a:ea typeface="Calibri" pitchFamily="34" charset="-122"/>
                <a:cs typeface="Calibri" pitchFamily="34" charset="-120"/>
              </a:rPr>
              <a:t>Totals, distribution donut and a 7-day chart</a:t>
            </a:r>
            <a:endParaRPr lang="en-US" sz="1400" dirty="0"/>
          </a:p>
        </p:txBody>
      </p:sp>
      <p:sp>
        <p:nvSpPr>
          <p:cNvPr id="13" name="card"/>
          <p:cNvSpPr/>
          <p:nvPr/>
        </p:nvSpPr>
        <p:spPr>
          <a:xfrm>
            <a:off x="8046720" y="1691640"/>
            <a:ext cx="3520440" cy="1965960"/>
          </a:xfrm>
          <a:prstGeom prst="roundRect">
            <a:avLst>
              <a:gd name="adj" fmla="val 6512"/>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4" name="icon-bg"/>
          <p:cNvSpPr/>
          <p:nvPr/>
        </p:nvSpPr>
        <p:spPr>
          <a:xfrm>
            <a:off x="8321040" y="1965960"/>
            <a:ext cx="640080" cy="640080"/>
          </a:xfrm>
          <a:prstGeom prst="ellipse">
            <a:avLst/>
          </a:prstGeom>
          <a:solidFill>
            <a:srgbClr val="5B4BE0"/>
          </a:solidFill>
          <a:ln w="12700">
            <a:solidFill>
              <a:srgbClr val="5B4BE0"/>
            </a:solidFill>
            <a:prstDash val="solid"/>
          </a:ln>
        </p:spPr>
      </p:sp>
      <p:pic>
        <p:nvPicPr>
          <p:cNvPr id="15" name="Image 2" descr="Search icon">    </p:cNvPr>
          <p:cNvPicPr>
            <a:picLocks noChangeAspect="1"/>
          </p:cNvPicPr>
          <p:nvPr/>
        </p:nvPicPr>
        <p:blipFill>
          <a:blip r:embed="rId3"/>
          <a:stretch>
            <a:fillRect/>
          </a:stretch>
        </p:blipFill>
        <p:spPr>
          <a:xfrm>
            <a:off x="8481060" y="2125980"/>
            <a:ext cx="320040" cy="320040"/>
          </a:xfrm>
          <a:prstGeom prst="rect">
            <a:avLst/>
          </a:prstGeom>
        </p:spPr>
      </p:pic>
      <p:sp>
        <p:nvSpPr>
          <p:cNvPr id="16" name="Text 11"/>
          <p:cNvSpPr txBox="1"/>
          <p:nvPr/>
        </p:nvSpPr>
        <p:spPr>
          <a:xfrm>
            <a:off x="8321040" y="2697480"/>
            <a:ext cx="3017520" cy="365760"/>
          </a:xfrm>
          <a:prstGeom prst="rect">
            <a:avLst/>
          </a:prstGeom>
          <a:noFill/>
          <a:ln/>
        </p:spPr>
        <p:txBody>
          <a:bodyPr wrap="square" lIns="0" tIns="0" rIns="0" bIns="0" rtlCol="0" anchor="t"/>
          <a:lstStyle/>
          <a:p>
            <a:pPr indent="0" marL="0">
              <a:buNone/>
            </a:pPr>
            <a:r>
              <a:rPr lang="en-US" sz="1900" b="1" dirty="0">
                <a:solidFill>
                  <a:srgbClr val="0E1330"/>
                </a:solidFill>
                <a:latin typeface="Calibri" pitchFamily="34" charset="0"/>
                <a:ea typeface="Calibri" pitchFamily="34" charset="-122"/>
                <a:cs typeface="Calibri" pitchFamily="34" charset="-120"/>
              </a:rPr>
              <a:t>History tools</a:t>
            </a:r>
            <a:endParaRPr lang="en-US" sz="1900" dirty="0"/>
          </a:p>
        </p:txBody>
      </p:sp>
      <p:sp>
        <p:nvSpPr>
          <p:cNvPr id="17" name="Text 12"/>
          <p:cNvSpPr txBox="1"/>
          <p:nvPr/>
        </p:nvSpPr>
        <p:spPr>
          <a:xfrm>
            <a:off x="8321040" y="3063240"/>
            <a:ext cx="3017520" cy="548640"/>
          </a:xfrm>
          <a:prstGeom prst="rect">
            <a:avLst/>
          </a:prstGeom>
          <a:noFill/>
          <a:ln/>
        </p:spPr>
        <p:txBody>
          <a:bodyPr wrap="square" lIns="0" tIns="0" rIns="0" bIns="0" rtlCol="0" anchor="t"/>
          <a:lstStyle/>
          <a:p>
            <a:pPr indent="0" marL="0">
              <a:buNone/>
            </a:pPr>
            <a:r>
              <a:rPr lang="en-US" sz="1400" dirty="0">
                <a:solidFill>
                  <a:srgbClr val="5A6385"/>
                </a:solidFill>
                <a:latin typeface="Calibri" pitchFamily="34" charset="0"/>
                <a:ea typeface="Calibri" pitchFamily="34" charset="-122"/>
                <a:cs typeface="Calibri" pitchFamily="34" charset="-120"/>
              </a:rPr>
              <a:t>Search, filter, delete and export to CSV</a:t>
            </a:r>
            <a:endParaRPr lang="en-US" sz="1400" dirty="0"/>
          </a:p>
        </p:txBody>
      </p:sp>
      <p:sp>
        <p:nvSpPr>
          <p:cNvPr id="18" name="card"/>
          <p:cNvSpPr/>
          <p:nvPr/>
        </p:nvSpPr>
        <p:spPr>
          <a:xfrm>
            <a:off x="640080" y="3886200"/>
            <a:ext cx="3520440" cy="1965960"/>
          </a:xfrm>
          <a:prstGeom prst="roundRect">
            <a:avLst>
              <a:gd name="adj" fmla="val 6512"/>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9" name="icon-bg"/>
          <p:cNvSpPr/>
          <p:nvPr/>
        </p:nvSpPr>
        <p:spPr>
          <a:xfrm>
            <a:off x="914400" y="4160520"/>
            <a:ext cx="640080" cy="640080"/>
          </a:xfrm>
          <a:prstGeom prst="ellipse">
            <a:avLst/>
          </a:prstGeom>
          <a:solidFill>
            <a:srgbClr val="1B2250"/>
          </a:solidFill>
          <a:ln w="12700">
            <a:solidFill>
              <a:srgbClr val="1B2250"/>
            </a:solidFill>
            <a:prstDash val="solid"/>
          </a:ln>
        </p:spPr>
      </p:sp>
      <p:pic>
        <p:nvPicPr>
          <p:cNvPr id="20" name="Image 3" descr="MobileAlt icon">    </p:cNvPr>
          <p:cNvPicPr>
            <a:picLocks noChangeAspect="1"/>
          </p:cNvPicPr>
          <p:nvPr/>
        </p:nvPicPr>
        <p:blipFill>
          <a:blip r:embed="rId4"/>
          <a:stretch>
            <a:fillRect/>
          </a:stretch>
        </p:blipFill>
        <p:spPr>
          <a:xfrm>
            <a:off x="1074420" y="4320540"/>
            <a:ext cx="320040" cy="320040"/>
          </a:xfrm>
          <a:prstGeom prst="rect">
            <a:avLst/>
          </a:prstGeom>
        </p:spPr>
      </p:pic>
      <p:sp>
        <p:nvSpPr>
          <p:cNvPr id="21" name="Text 15"/>
          <p:cNvSpPr txBox="1"/>
          <p:nvPr/>
        </p:nvSpPr>
        <p:spPr>
          <a:xfrm>
            <a:off x="914400" y="4892040"/>
            <a:ext cx="3017520" cy="365760"/>
          </a:xfrm>
          <a:prstGeom prst="rect">
            <a:avLst/>
          </a:prstGeom>
          <a:noFill/>
          <a:ln/>
        </p:spPr>
        <p:txBody>
          <a:bodyPr wrap="square" lIns="0" tIns="0" rIns="0" bIns="0" rtlCol="0" anchor="t"/>
          <a:lstStyle/>
          <a:p>
            <a:pPr indent="0" marL="0">
              <a:buNone/>
            </a:pPr>
            <a:r>
              <a:rPr lang="en-US" sz="1900" b="1" dirty="0">
                <a:solidFill>
                  <a:srgbClr val="0E1330"/>
                </a:solidFill>
                <a:latin typeface="Calibri" pitchFamily="34" charset="0"/>
                <a:ea typeface="Calibri" pitchFamily="34" charset="-122"/>
                <a:cs typeface="Calibri" pitchFamily="34" charset="-120"/>
              </a:rPr>
              <a:t>Fully responsive</a:t>
            </a:r>
            <a:endParaRPr lang="en-US" sz="1900" dirty="0"/>
          </a:p>
        </p:txBody>
      </p:sp>
      <p:sp>
        <p:nvSpPr>
          <p:cNvPr id="22" name="Text 16"/>
          <p:cNvSpPr txBox="1"/>
          <p:nvPr/>
        </p:nvSpPr>
        <p:spPr>
          <a:xfrm>
            <a:off x="914400" y="5257800"/>
            <a:ext cx="3017520" cy="548640"/>
          </a:xfrm>
          <a:prstGeom prst="rect">
            <a:avLst/>
          </a:prstGeom>
          <a:noFill/>
          <a:ln/>
        </p:spPr>
        <p:txBody>
          <a:bodyPr wrap="square" lIns="0" tIns="0" rIns="0" bIns="0" rtlCol="0" anchor="t"/>
          <a:lstStyle/>
          <a:p>
            <a:pPr indent="0" marL="0">
              <a:buNone/>
            </a:pPr>
            <a:r>
              <a:rPr lang="en-US" sz="1400" dirty="0">
                <a:solidFill>
                  <a:srgbClr val="5A6385"/>
                </a:solidFill>
                <a:latin typeface="Calibri" pitchFamily="34" charset="0"/>
                <a:ea typeface="Calibri" pitchFamily="34" charset="-122"/>
                <a:cs typeface="Calibri" pitchFamily="34" charset="-120"/>
              </a:rPr>
              <a:t>Desktop, tablet and phone layouts</a:t>
            </a:r>
            <a:endParaRPr lang="en-US" sz="1400" dirty="0"/>
          </a:p>
        </p:txBody>
      </p:sp>
      <p:sp>
        <p:nvSpPr>
          <p:cNvPr id="23" name="card"/>
          <p:cNvSpPr/>
          <p:nvPr/>
        </p:nvSpPr>
        <p:spPr>
          <a:xfrm>
            <a:off x="4343400" y="3886200"/>
            <a:ext cx="3520440" cy="1965960"/>
          </a:xfrm>
          <a:prstGeom prst="roundRect">
            <a:avLst>
              <a:gd name="adj" fmla="val 6512"/>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24" name="icon-bg"/>
          <p:cNvSpPr/>
          <p:nvPr/>
        </p:nvSpPr>
        <p:spPr>
          <a:xfrm>
            <a:off x="4617720" y="4160520"/>
            <a:ext cx="640080" cy="640080"/>
          </a:xfrm>
          <a:prstGeom prst="ellipse">
            <a:avLst/>
          </a:prstGeom>
          <a:solidFill>
            <a:srgbClr val="5B4BE0"/>
          </a:solidFill>
          <a:ln w="12700">
            <a:solidFill>
              <a:srgbClr val="5B4BE0"/>
            </a:solidFill>
            <a:prstDash val="solid"/>
          </a:ln>
        </p:spPr>
      </p:sp>
      <p:pic>
        <p:nvPicPr>
          <p:cNvPr id="25" name="Image 4" descr="Moon icon">    </p:cNvPr>
          <p:cNvPicPr>
            <a:picLocks noChangeAspect="1"/>
          </p:cNvPicPr>
          <p:nvPr/>
        </p:nvPicPr>
        <p:blipFill>
          <a:blip r:embed="rId5"/>
          <a:stretch>
            <a:fillRect/>
          </a:stretch>
        </p:blipFill>
        <p:spPr>
          <a:xfrm>
            <a:off x="4777740" y="4320540"/>
            <a:ext cx="320040" cy="320040"/>
          </a:xfrm>
          <a:prstGeom prst="rect">
            <a:avLst/>
          </a:prstGeom>
        </p:spPr>
      </p:pic>
      <p:sp>
        <p:nvSpPr>
          <p:cNvPr id="26" name="Text 19"/>
          <p:cNvSpPr txBox="1"/>
          <p:nvPr/>
        </p:nvSpPr>
        <p:spPr>
          <a:xfrm>
            <a:off x="4617720" y="4892040"/>
            <a:ext cx="3017520" cy="365760"/>
          </a:xfrm>
          <a:prstGeom prst="rect">
            <a:avLst/>
          </a:prstGeom>
          <a:noFill/>
          <a:ln/>
        </p:spPr>
        <p:txBody>
          <a:bodyPr wrap="square" lIns="0" tIns="0" rIns="0" bIns="0" rtlCol="0" anchor="t"/>
          <a:lstStyle/>
          <a:p>
            <a:pPr indent="0" marL="0">
              <a:buNone/>
            </a:pPr>
            <a:r>
              <a:rPr lang="en-US" sz="1900" b="1" dirty="0">
                <a:solidFill>
                  <a:srgbClr val="0E1330"/>
                </a:solidFill>
                <a:latin typeface="Calibri" pitchFamily="34" charset="0"/>
                <a:ea typeface="Calibri" pitchFamily="34" charset="-122"/>
                <a:cs typeface="Calibri" pitchFamily="34" charset="-120"/>
              </a:rPr>
              <a:t>Light and dark</a:t>
            </a:r>
            <a:endParaRPr lang="en-US" sz="1900" dirty="0"/>
          </a:p>
        </p:txBody>
      </p:sp>
      <p:sp>
        <p:nvSpPr>
          <p:cNvPr id="27" name="Text 20"/>
          <p:cNvSpPr txBox="1"/>
          <p:nvPr/>
        </p:nvSpPr>
        <p:spPr>
          <a:xfrm>
            <a:off x="4617720" y="5257800"/>
            <a:ext cx="3017520" cy="548640"/>
          </a:xfrm>
          <a:prstGeom prst="rect">
            <a:avLst/>
          </a:prstGeom>
          <a:noFill/>
          <a:ln/>
        </p:spPr>
        <p:txBody>
          <a:bodyPr wrap="square" lIns="0" tIns="0" rIns="0" bIns="0" rtlCol="0" anchor="t"/>
          <a:lstStyle/>
          <a:p>
            <a:pPr indent="0" marL="0">
              <a:buNone/>
            </a:pPr>
            <a:r>
              <a:rPr lang="en-US" sz="1400" dirty="0">
                <a:solidFill>
                  <a:srgbClr val="5A6385"/>
                </a:solidFill>
                <a:latin typeface="Calibri" pitchFamily="34" charset="0"/>
                <a:ea typeface="Calibri" pitchFamily="34" charset="-122"/>
                <a:cs typeface="Calibri" pitchFamily="34" charset="-120"/>
              </a:rPr>
              <a:t>Theme toggle that remembers your choice</a:t>
            </a:r>
            <a:endParaRPr lang="en-US" sz="1400" dirty="0"/>
          </a:p>
        </p:txBody>
      </p:sp>
      <p:sp>
        <p:nvSpPr>
          <p:cNvPr id="28" name="card"/>
          <p:cNvSpPr/>
          <p:nvPr/>
        </p:nvSpPr>
        <p:spPr>
          <a:xfrm>
            <a:off x="8046720" y="3886200"/>
            <a:ext cx="3520440" cy="1965960"/>
          </a:xfrm>
          <a:prstGeom prst="roundRect">
            <a:avLst>
              <a:gd name="adj" fmla="val 6512"/>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29" name="icon-bg"/>
          <p:cNvSpPr/>
          <p:nvPr/>
        </p:nvSpPr>
        <p:spPr>
          <a:xfrm>
            <a:off x="8321040" y="4160520"/>
            <a:ext cx="640080" cy="640080"/>
          </a:xfrm>
          <a:prstGeom prst="ellipse">
            <a:avLst/>
          </a:prstGeom>
          <a:solidFill>
            <a:srgbClr val="1B2250"/>
          </a:solidFill>
          <a:ln w="12700">
            <a:solidFill>
              <a:srgbClr val="1B2250"/>
            </a:solidFill>
            <a:prstDash val="solid"/>
          </a:ln>
        </p:spPr>
      </p:sp>
      <p:pic>
        <p:nvPicPr>
          <p:cNvPr id="30" name="Image 5" descr="CheckCircle icon">    </p:cNvPr>
          <p:cNvPicPr>
            <a:picLocks noChangeAspect="1"/>
          </p:cNvPicPr>
          <p:nvPr/>
        </p:nvPicPr>
        <p:blipFill>
          <a:blip r:embed="rId6"/>
          <a:stretch>
            <a:fillRect/>
          </a:stretch>
        </p:blipFill>
        <p:spPr>
          <a:xfrm>
            <a:off x="8481060" y="4320540"/>
            <a:ext cx="320040" cy="320040"/>
          </a:xfrm>
          <a:prstGeom prst="rect">
            <a:avLst/>
          </a:prstGeom>
        </p:spPr>
      </p:pic>
      <p:sp>
        <p:nvSpPr>
          <p:cNvPr id="31" name="Text 23"/>
          <p:cNvSpPr txBox="1"/>
          <p:nvPr/>
        </p:nvSpPr>
        <p:spPr>
          <a:xfrm>
            <a:off x="8321040" y="4892040"/>
            <a:ext cx="3017520" cy="365760"/>
          </a:xfrm>
          <a:prstGeom prst="rect">
            <a:avLst/>
          </a:prstGeom>
          <a:noFill/>
          <a:ln/>
        </p:spPr>
        <p:txBody>
          <a:bodyPr wrap="square" lIns="0" tIns="0" rIns="0" bIns="0" rtlCol="0" anchor="t"/>
          <a:lstStyle/>
          <a:p>
            <a:pPr indent="0" marL="0">
              <a:buNone/>
            </a:pPr>
            <a:r>
              <a:rPr lang="en-US" sz="1900" b="1" dirty="0">
                <a:solidFill>
                  <a:srgbClr val="0E1330"/>
                </a:solidFill>
                <a:latin typeface="Calibri" pitchFamily="34" charset="0"/>
                <a:ea typeface="Calibri" pitchFamily="34" charset="-122"/>
                <a:cs typeface="Calibri" pitchFamily="34" charset="-120"/>
              </a:rPr>
              <a:t>Clear feedback</a:t>
            </a:r>
            <a:endParaRPr lang="en-US" sz="1900" dirty="0"/>
          </a:p>
        </p:txBody>
      </p:sp>
      <p:sp>
        <p:nvSpPr>
          <p:cNvPr id="32" name="Text 24"/>
          <p:cNvSpPr txBox="1"/>
          <p:nvPr/>
        </p:nvSpPr>
        <p:spPr>
          <a:xfrm>
            <a:off x="8321040" y="5257800"/>
            <a:ext cx="3017520" cy="548640"/>
          </a:xfrm>
          <a:prstGeom prst="rect">
            <a:avLst/>
          </a:prstGeom>
          <a:noFill/>
          <a:ln/>
        </p:spPr>
        <p:txBody>
          <a:bodyPr wrap="square" lIns="0" tIns="0" rIns="0" bIns="0" rtlCol="0" anchor="t"/>
          <a:lstStyle/>
          <a:p>
            <a:pPr indent="0" marL="0">
              <a:buNone/>
            </a:pPr>
            <a:r>
              <a:rPr lang="en-US" sz="1400" dirty="0">
                <a:solidFill>
                  <a:srgbClr val="5A6385"/>
                </a:solidFill>
                <a:latin typeface="Calibri" pitchFamily="34" charset="0"/>
                <a:ea typeface="Calibri" pitchFamily="34" charset="-122"/>
                <a:cs typeface="Calibri" pitchFamily="34" charset="-120"/>
              </a:rPr>
              <a:t>Loading states and plain-language errors</a:t>
            </a:r>
            <a:endParaRPr lang="en-US" sz="14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640080" y="411480"/>
            <a:ext cx="1091153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mbria" pitchFamily="34" charset="0"/>
                <a:ea typeface="Cambria" pitchFamily="34" charset="-122"/>
                <a:cs typeface="Cambria" pitchFamily="34" charset="-120"/>
              </a:rPr>
              <a:t>Accounts and private history</a:t>
            </a:r>
            <a:endParaRPr lang="en-US" sz="3600" dirty="0"/>
          </a:p>
        </p:txBody>
      </p:sp>
      <p:sp>
        <p:nvSpPr>
          <p:cNvPr id="3" name="card"/>
          <p:cNvSpPr/>
          <p:nvPr/>
        </p:nvSpPr>
        <p:spPr>
          <a:xfrm>
            <a:off x="640080" y="1691640"/>
            <a:ext cx="3520440" cy="2651760"/>
          </a:xfrm>
          <a:prstGeom prst="roundRect">
            <a:avLst>
              <a:gd name="adj" fmla="val 4828"/>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4" name="icon-bg"/>
          <p:cNvSpPr/>
          <p:nvPr/>
        </p:nvSpPr>
        <p:spPr>
          <a:xfrm>
            <a:off x="914400" y="1965960"/>
            <a:ext cx="731520" cy="731520"/>
          </a:xfrm>
          <a:prstGeom prst="ellipse">
            <a:avLst/>
          </a:prstGeom>
          <a:solidFill>
            <a:srgbClr val="5B4BE0"/>
          </a:solidFill>
          <a:ln w="12700">
            <a:solidFill>
              <a:srgbClr val="5B4BE0"/>
            </a:solidFill>
            <a:prstDash val="solid"/>
          </a:ln>
        </p:spPr>
      </p:sp>
      <p:pic>
        <p:nvPicPr>
          <p:cNvPr id="5" name="Image 0" descr="UserShield icon">    </p:cNvPr>
          <p:cNvPicPr>
            <a:picLocks noChangeAspect="1"/>
          </p:cNvPicPr>
          <p:nvPr/>
        </p:nvPicPr>
        <p:blipFill>
          <a:blip r:embed="rId1"/>
          <a:stretch>
            <a:fillRect/>
          </a:stretch>
        </p:blipFill>
        <p:spPr>
          <a:xfrm>
            <a:off x="1097280" y="2148840"/>
            <a:ext cx="365760" cy="365760"/>
          </a:xfrm>
          <a:prstGeom prst="rect">
            <a:avLst/>
          </a:prstGeom>
        </p:spPr>
      </p:pic>
      <p:sp>
        <p:nvSpPr>
          <p:cNvPr id="6" name="Text 3"/>
          <p:cNvSpPr txBox="1"/>
          <p:nvPr/>
        </p:nvSpPr>
        <p:spPr>
          <a:xfrm>
            <a:off x="914400" y="2880360"/>
            <a:ext cx="3017520" cy="411480"/>
          </a:xfrm>
          <a:prstGeom prst="rect">
            <a:avLst/>
          </a:prstGeom>
          <a:noFill/>
          <a:ln/>
        </p:spPr>
        <p:txBody>
          <a:bodyPr wrap="square" lIns="0" tIns="0" rIns="0" bIns="0" rtlCol="0" anchor="t"/>
          <a:lstStyle/>
          <a:p>
            <a:pPr indent="0" marL="0">
              <a:buNone/>
            </a:pPr>
            <a:r>
              <a:rPr lang="en-US" sz="2100" b="1" dirty="0">
                <a:solidFill>
                  <a:srgbClr val="0E1330"/>
                </a:solidFill>
                <a:latin typeface="Calibri" pitchFamily="34" charset="0"/>
                <a:ea typeface="Calibri" pitchFamily="34" charset="-122"/>
                <a:cs typeface="Calibri" pitchFamily="34" charset="-120"/>
              </a:rPr>
              <a:t>Authentication</a:t>
            </a:r>
            <a:endParaRPr lang="en-US" sz="2100" dirty="0"/>
          </a:p>
        </p:txBody>
      </p:sp>
      <p:sp>
        <p:nvSpPr>
          <p:cNvPr id="7" name="Text 4"/>
          <p:cNvSpPr txBox="1"/>
          <p:nvPr/>
        </p:nvSpPr>
        <p:spPr>
          <a:xfrm>
            <a:off x="914400" y="3337560"/>
            <a:ext cx="3017520" cy="914400"/>
          </a:xfrm>
          <a:prstGeom prst="rect">
            <a:avLst/>
          </a:prstGeom>
          <a:noFill/>
          <a:ln/>
        </p:spPr>
        <p:txBody>
          <a:bodyPr wrap="square" lIns="0" tIns="0" rIns="0" bIns="0" rtlCol="0" anchor="t"/>
          <a:lstStyle/>
          <a:p>
            <a:pPr indent="0" marL="0">
              <a:buNone/>
            </a:pPr>
            <a:r>
              <a:rPr lang="en-US" sz="1500" dirty="0">
                <a:solidFill>
                  <a:srgbClr val="3B4468"/>
                </a:solidFill>
                <a:latin typeface="Calibri" pitchFamily="34" charset="0"/>
                <a:ea typeface="Calibri" pitchFamily="34" charset="-122"/>
                <a:cs typeface="Calibri" pitchFamily="34" charset="-120"/>
              </a:rPr>
              <a:t>Email/password and Google sign-in handled by Firebase</a:t>
            </a:r>
            <a:endParaRPr lang="en-US" sz="1500" dirty="0"/>
          </a:p>
        </p:txBody>
      </p:sp>
      <p:sp>
        <p:nvSpPr>
          <p:cNvPr id="8" name="card"/>
          <p:cNvSpPr/>
          <p:nvPr/>
        </p:nvSpPr>
        <p:spPr>
          <a:xfrm>
            <a:off x="4343400" y="1691640"/>
            <a:ext cx="3520440" cy="2651760"/>
          </a:xfrm>
          <a:prstGeom prst="roundRect">
            <a:avLst>
              <a:gd name="adj" fmla="val 4828"/>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9" name="icon-bg"/>
          <p:cNvSpPr/>
          <p:nvPr/>
        </p:nvSpPr>
        <p:spPr>
          <a:xfrm>
            <a:off x="4617720" y="1965960"/>
            <a:ext cx="731520" cy="731520"/>
          </a:xfrm>
          <a:prstGeom prst="ellipse">
            <a:avLst/>
          </a:prstGeom>
          <a:solidFill>
            <a:srgbClr val="E8A317"/>
          </a:solidFill>
          <a:ln w="12700">
            <a:solidFill>
              <a:srgbClr val="E8A317"/>
            </a:solidFill>
            <a:prstDash val="solid"/>
          </a:ln>
        </p:spPr>
      </p:sp>
      <p:pic>
        <p:nvPicPr>
          <p:cNvPr id="10" name="Image 1" descr="Database icon">    </p:cNvPr>
          <p:cNvPicPr>
            <a:picLocks noChangeAspect="1"/>
          </p:cNvPicPr>
          <p:nvPr/>
        </p:nvPicPr>
        <p:blipFill>
          <a:blip r:embed="rId2"/>
          <a:stretch>
            <a:fillRect/>
          </a:stretch>
        </p:blipFill>
        <p:spPr>
          <a:xfrm>
            <a:off x="4800600" y="2148840"/>
            <a:ext cx="365760" cy="365760"/>
          </a:xfrm>
          <a:prstGeom prst="rect">
            <a:avLst/>
          </a:prstGeom>
        </p:spPr>
      </p:pic>
      <p:sp>
        <p:nvSpPr>
          <p:cNvPr id="11" name="Text 7"/>
          <p:cNvSpPr txBox="1"/>
          <p:nvPr/>
        </p:nvSpPr>
        <p:spPr>
          <a:xfrm>
            <a:off x="4617720" y="2880360"/>
            <a:ext cx="3017520" cy="411480"/>
          </a:xfrm>
          <a:prstGeom prst="rect">
            <a:avLst/>
          </a:prstGeom>
          <a:noFill/>
          <a:ln/>
        </p:spPr>
        <p:txBody>
          <a:bodyPr wrap="square" lIns="0" tIns="0" rIns="0" bIns="0" rtlCol="0" anchor="t"/>
          <a:lstStyle/>
          <a:p>
            <a:pPr indent="0" marL="0">
              <a:buNone/>
            </a:pPr>
            <a:r>
              <a:rPr lang="en-US" sz="2100" b="1" dirty="0">
                <a:solidFill>
                  <a:srgbClr val="0E1330"/>
                </a:solidFill>
                <a:latin typeface="Calibri" pitchFamily="34" charset="0"/>
                <a:ea typeface="Calibri" pitchFamily="34" charset="-122"/>
                <a:cs typeface="Calibri" pitchFamily="34" charset="-120"/>
              </a:rPr>
              <a:t>Cloud Firestore</a:t>
            </a:r>
            <a:endParaRPr lang="en-US" sz="2100" dirty="0"/>
          </a:p>
        </p:txBody>
      </p:sp>
      <p:sp>
        <p:nvSpPr>
          <p:cNvPr id="12" name="Text 8"/>
          <p:cNvSpPr txBox="1"/>
          <p:nvPr/>
        </p:nvSpPr>
        <p:spPr>
          <a:xfrm>
            <a:off x="4617720" y="3337560"/>
            <a:ext cx="3017520" cy="914400"/>
          </a:xfrm>
          <a:prstGeom prst="rect">
            <a:avLst/>
          </a:prstGeom>
          <a:noFill/>
          <a:ln/>
        </p:spPr>
        <p:txBody>
          <a:bodyPr wrap="square" lIns="0" tIns="0" rIns="0" bIns="0" rtlCol="0" anchor="t"/>
          <a:lstStyle/>
          <a:p>
            <a:pPr indent="0" marL="0">
              <a:buNone/>
            </a:pPr>
            <a:r>
              <a:rPr lang="en-US" sz="1500" dirty="0">
                <a:solidFill>
                  <a:srgbClr val="3B4468"/>
                </a:solidFill>
                <a:latin typeface="Calibri" pitchFamily="34" charset="0"/>
                <a:ea typeface="Calibri" pitchFamily="34" charset="-122"/>
                <a:cs typeface="Calibri" pitchFamily="34" charset="-120"/>
              </a:rPr>
              <a:t>Each analysis is saved under the signed-in user</a:t>
            </a:r>
            <a:endParaRPr lang="en-US" sz="1500" dirty="0"/>
          </a:p>
        </p:txBody>
      </p:sp>
      <p:sp>
        <p:nvSpPr>
          <p:cNvPr id="13" name="card"/>
          <p:cNvSpPr/>
          <p:nvPr/>
        </p:nvSpPr>
        <p:spPr>
          <a:xfrm>
            <a:off x="8046720" y="1691640"/>
            <a:ext cx="3520440" cy="2651760"/>
          </a:xfrm>
          <a:prstGeom prst="roundRect">
            <a:avLst>
              <a:gd name="adj" fmla="val 4828"/>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4" name="icon-bg"/>
          <p:cNvSpPr/>
          <p:nvPr/>
        </p:nvSpPr>
        <p:spPr>
          <a:xfrm>
            <a:off x="8321040" y="1965960"/>
            <a:ext cx="731520" cy="731520"/>
          </a:xfrm>
          <a:prstGeom prst="ellipse">
            <a:avLst/>
          </a:prstGeom>
          <a:solidFill>
            <a:srgbClr val="0B9E65"/>
          </a:solidFill>
          <a:ln w="12700">
            <a:solidFill>
              <a:srgbClr val="0B9E65"/>
            </a:solidFill>
            <a:prstDash val="solid"/>
          </a:ln>
        </p:spPr>
      </p:sp>
      <p:pic>
        <p:nvPicPr>
          <p:cNvPr id="15" name="Image 2" descr="Lock icon">    </p:cNvPr>
          <p:cNvPicPr>
            <a:picLocks noChangeAspect="1"/>
          </p:cNvPicPr>
          <p:nvPr/>
        </p:nvPicPr>
        <p:blipFill>
          <a:blip r:embed="rId3"/>
          <a:stretch>
            <a:fillRect/>
          </a:stretch>
        </p:blipFill>
        <p:spPr>
          <a:xfrm>
            <a:off x="8503920" y="2148840"/>
            <a:ext cx="365760" cy="365760"/>
          </a:xfrm>
          <a:prstGeom prst="rect">
            <a:avLst/>
          </a:prstGeom>
        </p:spPr>
      </p:pic>
      <p:sp>
        <p:nvSpPr>
          <p:cNvPr id="16" name="Text 11"/>
          <p:cNvSpPr txBox="1"/>
          <p:nvPr/>
        </p:nvSpPr>
        <p:spPr>
          <a:xfrm>
            <a:off x="8321040" y="2880360"/>
            <a:ext cx="3017520" cy="411480"/>
          </a:xfrm>
          <a:prstGeom prst="rect">
            <a:avLst/>
          </a:prstGeom>
          <a:noFill/>
          <a:ln/>
        </p:spPr>
        <p:txBody>
          <a:bodyPr wrap="square" lIns="0" tIns="0" rIns="0" bIns="0" rtlCol="0" anchor="t"/>
          <a:lstStyle/>
          <a:p>
            <a:pPr indent="0" marL="0">
              <a:buNone/>
            </a:pPr>
            <a:r>
              <a:rPr lang="en-US" sz="2100" b="1" dirty="0">
                <a:solidFill>
                  <a:srgbClr val="0E1330"/>
                </a:solidFill>
                <a:latin typeface="Calibri" pitchFamily="34" charset="0"/>
                <a:ea typeface="Calibri" pitchFamily="34" charset="-122"/>
                <a:cs typeface="Calibri" pitchFamily="34" charset="-120"/>
              </a:rPr>
              <a:t>Security rules</a:t>
            </a:r>
            <a:endParaRPr lang="en-US" sz="2100" dirty="0"/>
          </a:p>
        </p:txBody>
      </p:sp>
      <p:sp>
        <p:nvSpPr>
          <p:cNvPr id="17" name="Text 12"/>
          <p:cNvSpPr txBox="1"/>
          <p:nvPr/>
        </p:nvSpPr>
        <p:spPr>
          <a:xfrm>
            <a:off x="8321040" y="3337560"/>
            <a:ext cx="3017520" cy="914400"/>
          </a:xfrm>
          <a:prstGeom prst="rect">
            <a:avLst/>
          </a:prstGeom>
          <a:noFill/>
          <a:ln/>
        </p:spPr>
        <p:txBody>
          <a:bodyPr wrap="square" lIns="0" tIns="0" rIns="0" bIns="0" rtlCol="0" anchor="t"/>
          <a:lstStyle/>
          <a:p>
            <a:pPr indent="0" marL="0">
              <a:buNone/>
            </a:pPr>
            <a:r>
              <a:rPr lang="en-US" sz="1500" dirty="0">
                <a:solidFill>
                  <a:srgbClr val="3B4468"/>
                </a:solidFill>
                <a:latin typeface="Calibri" pitchFamily="34" charset="0"/>
                <a:ea typeface="Calibri" pitchFamily="34" charset="-122"/>
                <a:cs typeface="Calibri" pitchFamily="34" charset="-120"/>
              </a:rPr>
              <a:t>Users can read, create and delete only their own records</a:t>
            </a:r>
            <a:endParaRPr lang="en-US" sz="1500" dirty="0"/>
          </a:p>
        </p:txBody>
      </p:sp>
      <p:sp>
        <p:nvSpPr>
          <p:cNvPr id="18" name="path-card"/>
          <p:cNvSpPr/>
          <p:nvPr/>
        </p:nvSpPr>
        <p:spPr>
          <a:xfrm>
            <a:off x="640080" y="4663440"/>
            <a:ext cx="10911535" cy="1234440"/>
          </a:xfrm>
          <a:prstGeom prst="roundRect">
            <a:avLst>
              <a:gd name="adj" fmla="val 10370"/>
            </a:avLst>
          </a:prstGeom>
          <a:solidFill>
            <a:srgbClr val="0E1330"/>
          </a:solidFill>
          <a:ln w="12700">
            <a:solidFill>
              <a:srgbClr val="0E1330"/>
            </a:solidFill>
            <a:prstDash val="solid"/>
          </a:ln>
        </p:spPr>
      </p:sp>
      <p:sp>
        <p:nvSpPr>
          <p:cNvPr id="19" name="Text 14"/>
          <p:cNvSpPr txBox="1"/>
          <p:nvPr/>
        </p:nvSpPr>
        <p:spPr>
          <a:xfrm>
            <a:off x="1005840" y="4846320"/>
            <a:ext cx="6858000" cy="411480"/>
          </a:xfrm>
          <a:prstGeom prst="rect">
            <a:avLst/>
          </a:prstGeom>
          <a:noFill/>
          <a:ln/>
        </p:spPr>
        <p:txBody>
          <a:bodyPr wrap="square" lIns="0" tIns="0" rIns="0" bIns="0" rtlCol="0" anchor="t"/>
          <a:lstStyle/>
          <a:p>
            <a:pPr indent="0" marL="0">
              <a:buNone/>
            </a:pPr>
            <a:r>
              <a:rPr lang="en-US" sz="2000" b="1" dirty="0">
                <a:solidFill>
                  <a:srgbClr val="3DF0A5"/>
                </a:solidFill>
                <a:latin typeface="Courier New" pitchFamily="34" charset="0"/>
                <a:ea typeface="Courier New" pitchFamily="34" charset="-122"/>
                <a:cs typeface="Courier New" pitchFamily="34" charset="-120"/>
              </a:rPr>
              <a:t>users / {uid} / predictions / {id}</a:t>
            </a:r>
            <a:endParaRPr lang="en-US" sz="2000" dirty="0"/>
          </a:p>
        </p:txBody>
      </p:sp>
      <p:sp>
        <p:nvSpPr>
          <p:cNvPr id="20" name="Text 15"/>
          <p:cNvSpPr txBox="1"/>
          <p:nvPr/>
        </p:nvSpPr>
        <p:spPr>
          <a:xfrm>
            <a:off x="1005840" y="5303520"/>
            <a:ext cx="10180015" cy="502920"/>
          </a:xfrm>
          <a:prstGeom prst="rect">
            <a:avLst/>
          </a:prstGeom>
          <a:noFill/>
          <a:ln/>
        </p:spPr>
        <p:txBody>
          <a:bodyPr wrap="square" lIns="0" tIns="0" rIns="0" bIns="0" rtlCol="0" anchor="t"/>
          <a:lstStyle/>
          <a:p>
            <a:pPr indent="0" marL="0">
              <a:buNone/>
            </a:pPr>
            <a:r>
              <a:rPr lang="en-US" sz="1400" dirty="0">
                <a:solidFill>
                  <a:srgbClr val="CFD4F2"/>
                </a:solidFill>
                <a:latin typeface="Calibri" pitchFamily="34" charset="0"/>
                <a:ea typeface="Calibri" pitchFamily="34" charset="-122"/>
                <a:cs typeface="Calibri" pitchFamily="34" charset="-120"/>
              </a:rPr>
              <a:t>text, sentiment, confidence, scores, createdAt. Entries are validated and cannot be edited. No secret keys exist in the repository.</a:t>
            </a:r>
            <a:endParaRPr lang="en-US" sz="14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640080" y="411480"/>
            <a:ext cx="1091153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mbria" pitchFamily="34" charset="0"/>
                <a:ea typeface="Cambria" pitchFamily="34" charset="-122"/>
                <a:cs typeface="Cambria" pitchFamily="34" charset="-120"/>
              </a:rPr>
              <a:t>How it was tested</a:t>
            </a:r>
            <a:endParaRPr lang="en-US" sz="3600" dirty="0"/>
          </a:p>
        </p:txBody>
      </p:sp>
      <p:sp>
        <p:nvSpPr>
          <p:cNvPr id="3" name="card"/>
          <p:cNvSpPr/>
          <p:nvPr/>
        </p:nvSpPr>
        <p:spPr>
          <a:xfrm>
            <a:off x="640080" y="1691640"/>
            <a:ext cx="3840480" cy="4206240"/>
          </a:xfrm>
          <a:prstGeom prst="roundRect">
            <a:avLst>
              <a:gd name="adj" fmla="val 3333"/>
            </a:avLst>
          </a:prstGeom>
          <a:solidFill>
            <a:srgbClr val="0E1330"/>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4" name="Text 2"/>
          <p:cNvSpPr txBox="1"/>
          <p:nvPr/>
        </p:nvSpPr>
        <p:spPr>
          <a:xfrm>
            <a:off x="1005840" y="1920240"/>
            <a:ext cx="3108960" cy="1463040"/>
          </a:xfrm>
          <a:prstGeom prst="rect">
            <a:avLst/>
          </a:prstGeom>
          <a:noFill/>
          <a:ln/>
        </p:spPr>
        <p:txBody>
          <a:bodyPr wrap="square" lIns="0" tIns="0" rIns="0" bIns="0" rtlCol="0" anchor="t"/>
          <a:lstStyle/>
          <a:p>
            <a:pPr indent="0" marL="0">
              <a:buNone/>
            </a:pPr>
            <a:r>
              <a:rPr lang="en-US" sz="9600" b="1" dirty="0">
                <a:solidFill>
                  <a:srgbClr val="3DF0A5"/>
                </a:solidFill>
                <a:latin typeface="Cambria" pitchFamily="34" charset="0"/>
                <a:ea typeface="Cambria" pitchFamily="34" charset="-122"/>
                <a:cs typeface="Cambria" pitchFamily="34" charset="-120"/>
              </a:rPr>
              <a:t>17</a:t>
            </a:r>
            <a:endParaRPr lang="en-US" sz="9600" dirty="0"/>
          </a:p>
        </p:txBody>
      </p:sp>
      <p:sp>
        <p:nvSpPr>
          <p:cNvPr id="5" name="Text 3"/>
          <p:cNvSpPr txBox="1"/>
          <p:nvPr/>
        </p:nvSpPr>
        <p:spPr>
          <a:xfrm>
            <a:off x="1005840" y="3429000"/>
            <a:ext cx="3108960" cy="4572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automated tests pass</a:t>
            </a:r>
            <a:endParaRPr lang="en-US" sz="2000" dirty="0"/>
          </a:p>
        </p:txBody>
      </p:sp>
      <p:sp>
        <p:nvSpPr>
          <p:cNvPr id="6" name="Text 4"/>
          <p:cNvSpPr txBox="1"/>
          <p:nvPr/>
        </p:nvSpPr>
        <p:spPr>
          <a:xfrm>
            <a:off x="1005840" y="4023360"/>
            <a:ext cx="3108960" cy="1280160"/>
          </a:xfrm>
          <a:prstGeom prst="rect">
            <a:avLst/>
          </a:prstGeom>
          <a:noFill/>
          <a:ln/>
        </p:spPr>
        <p:txBody>
          <a:bodyPr wrap="square" lIns="0" tIns="0" rIns="0" bIns="0" rtlCol="0" anchor="t"/>
          <a:lstStyle/>
          <a:p>
            <a:pPr indent="0" marL="0">
              <a:buNone/>
            </a:pPr>
            <a:r>
              <a:rPr lang="en-US" sz="1500" dirty="0">
                <a:solidFill>
                  <a:srgbClr val="CFD4F2"/>
                </a:solidFill>
                <a:latin typeface="Calibri" pitchFamily="34" charset="0"/>
                <a:ea typeface="Calibri" pitchFamily="34" charset="-122"/>
                <a:cs typeface="Calibri" pitchFamily="34" charset="-120"/>
              </a:rPr>
              <a:t>Python unit tests for cleaning and for every API response and error</a:t>
            </a:r>
            <a:endParaRPr lang="en-US" sz="1500" dirty="0"/>
          </a:p>
        </p:txBody>
      </p:sp>
      <p:pic>
        <p:nvPicPr>
          <p:cNvPr id="7" name="Image 0" descr="check">    </p:cNvPr>
          <p:cNvPicPr>
            <a:picLocks noChangeAspect="1"/>
          </p:cNvPicPr>
          <p:nvPr/>
        </p:nvPicPr>
        <p:blipFill>
          <a:blip r:embed="rId1"/>
          <a:stretch>
            <a:fillRect/>
          </a:stretch>
        </p:blipFill>
        <p:spPr>
          <a:xfrm>
            <a:off x="4937760" y="1828800"/>
            <a:ext cx="292608" cy="292608"/>
          </a:xfrm>
          <a:prstGeom prst="rect">
            <a:avLst/>
          </a:prstGeom>
        </p:spPr>
      </p:pic>
      <p:sp>
        <p:nvSpPr>
          <p:cNvPr id="8" name="Text 5"/>
          <p:cNvSpPr txBox="1"/>
          <p:nvPr/>
        </p:nvSpPr>
        <p:spPr>
          <a:xfrm>
            <a:off x="5440680" y="1810512"/>
            <a:ext cx="6126480" cy="365760"/>
          </a:xfrm>
          <a:prstGeom prst="rect">
            <a:avLst/>
          </a:prstGeom>
          <a:noFill/>
          <a:ln/>
        </p:spPr>
        <p:txBody>
          <a:bodyPr wrap="square" lIns="0" tIns="0" rIns="0" bIns="0" rtlCol="0" anchor="t"/>
          <a:lstStyle/>
          <a:p>
            <a:pPr indent="0" marL="0">
              <a:buNone/>
            </a:pPr>
            <a:r>
              <a:rPr lang="en-US" sz="1600" dirty="0">
                <a:solidFill>
                  <a:srgbClr val="3B4468"/>
                </a:solidFill>
                <a:latin typeface="Calibri" pitchFamily="34" charset="0"/>
                <a:ea typeface="Calibri" pitchFamily="34" charset="-122"/>
                <a:cs typeface="Calibri" pitchFamily="34" charset="-120"/>
              </a:rPr>
              <a:t>Positive, Neutral and Negative inputs</a:t>
            </a:r>
            <a:endParaRPr lang="en-US" sz="1600" dirty="0"/>
          </a:p>
        </p:txBody>
      </p:sp>
      <p:pic>
        <p:nvPicPr>
          <p:cNvPr id="9" name="Image 1" descr="check">    </p:cNvPr>
          <p:cNvPicPr>
            <a:picLocks noChangeAspect="1"/>
          </p:cNvPicPr>
          <p:nvPr/>
        </p:nvPicPr>
        <p:blipFill>
          <a:blip r:embed="rId2"/>
          <a:stretch>
            <a:fillRect/>
          </a:stretch>
        </p:blipFill>
        <p:spPr>
          <a:xfrm>
            <a:off x="4937760" y="2395728"/>
            <a:ext cx="292608" cy="292608"/>
          </a:xfrm>
          <a:prstGeom prst="rect">
            <a:avLst/>
          </a:prstGeom>
        </p:spPr>
      </p:pic>
      <p:sp>
        <p:nvSpPr>
          <p:cNvPr id="10" name="Text 6"/>
          <p:cNvSpPr txBox="1"/>
          <p:nvPr/>
        </p:nvSpPr>
        <p:spPr>
          <a:xfrm>
            <a:off x="5440680" y="2377440"/>
            <a:ext cx="6126480" cy="365760"/>
          </a:xfrm>
          <a:prstGeom prst="rect">
            <a:avLst/>
          </a:prstGeom>
          <a:noFill/>
          <a:ln/>
        </p:spPr>
        <p:txBody>
          <a:bodyPr wrap="square" lIns="0" tIns="0" rIns="0" bIns="0" rtlCol="0" anchor="t"/>
          <a:lstStyle/>
          <a:p>
            <a:pPr indent="0" marL="0">
              <a:buNone/>
            </a:pPr>
            <a:r>
              <a:rPr lang="en-US" sz="1600" dirty="0">
                <a:solidFill>
                  <a:srgbClr val="3B4468"/>
                </a:solidFill>
                <a:latin typeface="Calibri" pitchFamily="34" charset="0"/>
                <a:ea typeface="Calibri" pitchFamily="34" charset="-122"/>
                <a:cs typeface="Calibri" pitchFamily="34" charset="-120"/>
              </a:rPr>
              <a:t>Empty, too short, too long and numbers-only text</a:t>
            </a:r>
            <a:endParaRPr lang="en-US" sz="1600" dirty="0"/>
          </a:p>
        </p:txBody>
      </p:sp>
      <p:pic>
        <p:nvPicPr>
          <p:cNvPr id="11" name="Image 2" descr="check">    </p:cNvPr>
          <p:cNvPicPr>
            <a:picLocks noChangeAspect="1"/>
          </p:cNvPicPr>
          <p:nvPr/>
        </p:nvPicPr>
        <p:blipFill>
          <a:blip r:embed="rId3"/>
          <a:stretch>
            <a:fillRect/>
          </a:stretch>
        </p:blipFill>
        <p:spPr>
          <a:xfrm>
            <a:off x="4937760" y="2962656"/>
            <a:ext cx="292608" cy="292608"/>
          </a:xfrm>
          <a:prstGeom prst="rect">
            <a:avLst/>
          </a:prstGeom>
        </p:spPr>
      </p:pic>
      <p:sp>
        <p:nvSpPr>
          <p:cNvPr id="12" name="Text 7"/>
          <p:cNvSpPr txBox="1"/>
          <p:nvPr/>
        </p:nvSpPr>
        <p:spPr>
          <a:xfrm>
            <a:off x="5440680" y="2944368"/>
            <a:ext cx="6126480" cy="365760"/>
          </a:xfrm>
          <a:prstGeom prst="rect">
            <a:avLst/>
          </a:prstGeom>
          <a:noFill/>
          <a:ln/>
        </p:spPr>
        <p:txBody>
          <a:bodyPr wrap="square" lIns="0" tIns="0" rIns="0" bIns="0" rtlCol="0" anchor="t"/>
          <a:lstStyle/>
          <a:p>
            <a:pPr indent="0" marL="0">
              <a:buNone/>
            </a:pPr>
            <a:r>
              <a:rPr lang="en-US" sz="1600" dirty="0">
                <a:solidFill>
                  <a:srgbClr val="3B4468"/>
                </a:solidFill>
                <a:latin typeface="Calibri" pitchFamily="34" charset="0"/>
                <a:ea typeface="Calibri" pitchFamily="34" charset="-122"/>
                <a:cs typeface="Calibri" pitchFamily="34" charset="-120"/>
              </a:rPr>
              <a:t>Malformed JSON and unknown routes</a:t>
            </a:r>
            <a:endParaRPr lang="en-US" sz="1600" dirty="0"/>
          </a:p>
        </p:txBody>
      </p:sp>
      <p:pic>
        <p:nvPicPr>
          <p:cNvPr id="13" name="Image 3" descr="check">    </p:cNvPr>
          <p:cNvPicPr>
            <a:picLocks noChangeAspect="1"/>
          </p:cNvPicPr>
          <p:nvPr/>
        </p:nvPicPr>
        <p:blipFill>
          <a:blip r:embed="rId4"/>
          <a:stretch>
            <a:fillRect/>
          </a:stretch>
        </p:blipFill>
        <p:spPr>
          <a:xfrm>
            <a:off x="4937760" y="3529584"/>
            <a:ext cx="292608" cy="292608"/>
          </a:xfrm>
          <a:prstGeom prst="rect">
            <a:avLst/>
          </a:prstGeom>
        </p:spPr>
      </p:pic>
      <p:sp>
        <p:nvSpPr>
          <p:cNvPr id="14" name="Text 8"/>
          <p:cNvSpPr txBox="1"/>
          <p:nvPr/>
        </p:nvSpPr>
        <p:spPr>
          <a:xfrm>
            <a:off x="5440680" y="3511296"/>
            <a:ext cx="6126480" cy="365760"/>
          </a:xfrm>
          <a:prstGeom prst="rect">
            <a:avLst/>
          </a:prstGeom>
          <a:noFill/>
          <a:ln/>
        </p:spPr>
        <p:txBody>
          <a:bodyPr wrap="square" lIns="0" tIns="0" rIns="0" bIns="0" rtlCol="0" anchor="t"/>
          <a:lstStyle/>
          <a:p>
            <a:pPr indent="0" marL="0">
              <a:buNone/>
            </a:pPr>
            <a:r>
              <a:rPr lang="en-US" sz="1600" dirty="0">
                <a:solidFill>
                  <a:srgbClr val="3B4468"/>
                </a:solidFill>
                <a:latin typeface="Calibri" pitchFamily="34" charset="0"/>
                <a:ea typeface="Calibri" pitchFamily="34" charset="-122"/>
                <a:cs typeface="Calibri" pitchFamily="34" charset="-120"/>
              </a:rPr>
              <a:t>Missing model returns a clean 503</a:t>
            </a:r>
            <a:endParaRPr lang="en-US" sz="1600" dirty="0"/>
          </a:p>
        </p:txBody>
      </p:sp>
      <p:pic>
        <p:nvPicPr>
          <p:cNvPr id="15" name="Image 4" descr="check">    </p:cNvPr>
          <p:cNvPicPr>
            <a:picLocks noChangeAspect="1"/>
          </p:cNvPicPr>
          <p:nvPr/>
        </p:nvPicPr>
        <p:blipFill>
          <a:blip r:embed="rId5"/>
          <a:stretch>
            <a:fillRect/>
          </a:stretch>
        </p:blipFill>
        <p:spPr>
          <a:xfrm>
            <a:off x="4937760" y="4096512"/>
            <a:ext cx="292608" cy="292608"/>
          </a:xfrm>
          <a:prstGeom prst="rect">
            <a:avLst/>
          </a:prstGeom>
        </p:spPr>
      </p:pic>
      <p:sp>
        <p:nvSpPr>
          <p:cNvPr id="16" name="Text 9"/>
          <p:cNvSpPr txBox="1"/>
          <p:nvPr/>
        </p:nvSpPr>
        <p:spPr>
          <a:xfrm>
            <a:off x="5440680" y="4078224"/>
            <a:ext cx="6126480" cy="365760"/>
          </a:xfrm>
          <a:prstGeom prst="rect">
            <a:avLst/>
          </a:prstGeom>
          <a:noFill/>
          <a:ln/>
        </p:spPr>
        <p:txBody>
          <a:bodyPr wrap="square" lIns="0" tIns="0" rIns="0" bIns="0" rtlCol="0" anchor="t"/>
          <a:lstStyle/>
          <a:p>
            <a:pPr indent="0" marL="0">
              <a:buNone/>
            </a:pPr>
            <a:r>
              <a:rPr lang="en-US" sz="1600" dirty="0">
                <a:solidFill>
                  <a:srgbClr val="3B4468"/>
                </a:solidFill>
                <a:latin typeface="Calibri" pitchFamily="34" charset="0"/>
                <a:ea typeface="Calibri" pitchFamily="34" charset="-122"/>
                <a:cs typeface="Calibri" pitchFamily="34" charset="-120"/>
              </a:rPr>
              <a:t>Browser run: desktop and phone width, no layout overflow</a:t>
            </a:r>
            <a:endParaRPr lang="en-US" sz="1600" dirty="0"/>
          </a:p>
        </p:txBody>
      </p:sp>
      <p:pic>
        <p:nvPicPr>
          <p:cNvPr id="17" name="Image 5" descr="check">    </p:cNvPr>
          <p:cNvPicPr>
            <a:picLocks noChangeAspect="1"/>
          </p:cNvPicPr>
          <p:nvPr/>
        </p:nvPicPr>
        <p:blipFill>
          <a:blip r:embed="rId6"/>
          <a:stretch>
            <a:fillRect/>
          </a:stretch>
        </p:blipFill>
        <p:spPr>
          <a:xfrm>
            <a:off x="4937760" y="4663440"/>
            <a:ext cx="292608" cy="292608"/>
          </a:xfrm>
          <a:prstGeom prst="rect">
            <a:avLst/>
          </a:prstGeom>
        </p:spPr>
      </p:pic>
      <p:sp>
        <p:nvSpPr>
          <p:cNvPr id="18" name="Text 10"/>
          <p:cNvSpPr txBox="1"/>
          <p:nvPr/>
        </p:nvSpPr>
        <p:spPr>
          <a:xfrm>
            <a:off x="5440680" y="4645152"/>
            <a:ext cx="6126480" cy="365760"/>
          </a:xfrm>
          <a:prstGeom prst="rect">
            <a:avLst/>
          </a:prstGeom>
          <a:noFill/>
          <a:ln/>
        </p:spPr>
        <p:txBody>
          <a:bodyPr wrap="square" lIns="0" tIns="0" rIns="0" bIns="0" rtlCol="0" anchor="t"/>
          <a:lstStyle/>
          <a:p>
            <a:pPr indent="0" marL="0">
              <a:buNone/>
            </a:pPr>
            <a:r>
              <a:rPr lang="en-US" sz="1600" dirty="0">
                <a:solidFill>
                  <a:srgbClr val="3B4468"/>
                </a:solidFill>
                <a:latin typeface="Calibri" pitchFamily="34" charset="0"/>
                <a:ea typeface="Calibri" pitchFamily="34" charset="-122"/>
                <a:cs typeface="Calibri" pitchFamily="34" charset="-120"/>
              </a:rPr>
              <a:t>Sign-up, login, history, filter, search and delete flows</a:t>
            </a:r>
            <a:endParaRPr lang="en-US" sz="1600" dirty="0"/>
          </a:p>
        </p:txBody>
      </p:sp>
      <p:pic>
        <p:nvPicPr>
          <p:cNvPr id="19" name="Image 6" descr="check">    </p:cNvPr>
          <p:cNvPicPr>
            <a:picLocks noChangeAspect="1"/>
          </p:cNvPicPr>
          <p:nvPr/>
        </p:nvPicPr>
        <p:blipFill>
          <a:blip r:embed="rId7"/>
          <a:stretch>
            <a:fillRect/>
          </a:stretch>
        </p:blipFill>
        <p:spPr>
          <a:xfrm>
            <a:off x="4937760" y="5230368"/>
            <a:ext cx="292608" cy="292608"/>
          </a:xfrm>
          <a:prstGeom prst="rect">
            <a:avLst/>
          </a:prstGeom>
        </p:spPr>
      </p:pic>
      <p:sp>
        <p:nvSpPr>
          <p:cNvPr id="20" name="Text 11"/>
          <p:cNvSpPr txBox="1"/>
          <p:nvPr/>
        </p:nvSpPr>
        <p:spPr>
          <a:xfrm>
            <a:off x="5440680" y="5212080"/>
            <a:ext cx="6126480" cy="365760"/>
          </a:xfrm>
          <a:prstGeom prst="rect">
            <a:avLst/>
          </a:prstGeom>
          <a:noFill/>
          <a:ln/>
        </p:spPr>
        <p:txBody>
          <a:bodyPr wrap="square" lIns="0" tIns="0" rIns="0" bIns="0" rtlCol="0" anchor="t"/>
          <a:lstStyle/>
          <a:p>
            <a:pPr indent="0" marL="0">
              <a:buNone/>
            </a:pPr>
            <a:r>
              <a:rPr lang="en-US" sz="1600" dirty="0">
                <a:solidFill>
                  <a:srgbClr val="3B4468"/>
                </a:solidFill>
                <a:latin typeface="Calibri" pitchFamily="34" charset="0"/>
                <a:ea typeface="Calibri" pitchFamily="34" charset="-122"/>
                <a:cs typeface="Calibri" pitchFamily="34" charset="-120"/>
              </a:rPr>
              <a:t>Final check on the live Vercel link</a:t>
            </a:r>
            <a:endParaRPr lang="en-US" sz="16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640080" y="411480"/>
            <a:ext cx="1091153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mbria" pitchFamily="34" charset="0"/>
                <a:ea typeface="Cambria" pitchFamily="34" charset="-122"/>
                <a:cs typeface="Cambria" pitchFamily="34" charset="-120"/>
              </a:rPr>
              <a:t>From laptop to a live link</a:t>
            </a:r>
            <a:endParaRPr lang="en-US" sz="3600" dirty="0"/>
          </a:p>
        </p:txBody>
      </p:sp>
      <p:sp>
        <p:nvSpPr>
          <p:cNvPr id="3" name="card"/>
          <p:cNvSpPr/>
          <p:nvPr/>
        </p:nvSpPr>
        <p:spPr>
          <a:xfrm>
            <a:off x="640080" y="1828800"/>
            <a:ext cx="3520440" cy="3200400"/>
          </a:xfrm>
          <a:prstGeom prst="roundRect">
            <a:avLst>
              <a:gd name="adj" fmla="val 4000"/>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4" name="Text 2"/>
          <p:cNvSpPr txBox="1"/>
          <p:nvPr/>
        </p:nvSpPr>
        <p:spPr>
          <a:xfrm>
            <a:off x="914400" y="2011680"/>
            <a:ext cx="731520" cy="731520"/>
          </a:xfrm>
          <a:prstGeom prst="rect">
            <a:avLst/>
          </a:prstGeom>
          <a:noFill/>
          <a:ln/>
        </p:spPr>
        <p:txBody>
          <a:bodyPr wrap="square" lIns="0" tIns="0" rIns="0" bIns="0" rtlCol="0" anchor="t"/>
          <a:lstStyle/>
          <a:p>
            <a:pPr indent="0" marL="0">
              <a:buNone/>
            </a:pPr>
            <a:r>
              <a:rPr lang="en-US" sz="4400" b="1" dirty="0">
                <a:solidFill>
                  <a:srgbClr val="5B4BE0"/>
                </a:solidFill>
                <a:latin typeface="Cambria" pitchFamily="34" charset="0"/>
                <a:ea typeface="Cambria" pitchFamily="34" charset="-122"/>
                <a:cs typeface="Cambria" pitchFamily="34" charset="-120"/>
              </a:rPr>
              <a:t>1</a:t>
            </a:r>
            <a:endParaRPr lang="en-US" sz="4400" dirty="0"/>
          </a:p>
        </p:txBody>
      </p:sp>
      <p:sp>
        <p:nvSpPr>
          <p:cNvPr id="5" name="icon-bg"/>
          <p:cNvSpPr/>
          <p:nvPr/>
        </p:nvSpPr>
        <p:spPr>
          <a:xfrm>
            <a:off x="3246120" y="2057400"/>
            <a:ext cx="640080" cy="640080"/>
          </a:xfrm>
          <a:prstGeom prst="ellipse">
            <a:avLst/>
          </a:prstGeom>
          <a:solidFill>
            <a:srgbClr val="1B2250"/>
          </a:solidFill>
          <a:ln w="12700">
            <a:solidFill>
              <a:srgbClr val="1B2250"/>
            </a:solidFill>
            <a:prstDash val="solid"/>
          </a:ln>
        </p:spPr>
      </p:sp>
      <p:pic>
        <p:nvPicPr>
          <p:cNvPr id="6" name="Image 0" descr="Github icon">    </p:cNvPr>
          <p:cNvPicPr>
            <a:picLocks noChangeAspect="1"/>
          </p:cNvPicPr>
          <p:nvPr/>
        </p:nvPicPr>
        <p:blipFill>
          <a:blip r:embed="rId1"/>
          <a:stretch>
            <a:fillRect/>
          </a:stretch>
        </p:blipFill>
        <p:spPr>
          <a:xfrm>
            <a:off x="3406140" y="2217420"/>
            <a:ext cx="320040" cy="320040"/>
          </a:xfrm>
          <a:prstGeom prst="rect">
            <a:avLst/>
          </a:prstGeom>
        </p:spPr>
      </p:pic>
      <p:sp>
        <p:nvSpPr>
          <p:cNvPr id="7" name="Text 4"/>
          <p:cNvSpPr txBox="1"/>
          <p:nvPr/>
        </p:nvSpPr>
        <p:spPr>
          <a:xfrm>
            <a:off x="914400" y="3017520"/>
            <a:ext cx="3017520" cy="411480"/>
          </a:xfrm>
          <a:prstGeom prst="rect">
            <a:avLst/>
          </a:prstGeom>
          <a:noFill/>
          <a:ln/>
        </p:spPr>
        <p:txBody>
          <a:bodyPr wrap="square" lIns="0" tIns="0" rIns="0" bIns="0" rtlCol="0" anchor="t"/>
          <a:lstStyle/>
          <a:p>
            <a:pPr indent="0" marL="0">
              <a:buNone/>
            </a:pPr>
            <a:r>
              <a:rPr lang="en-US" sz="2100" b="1" dirty="0">
                <a:solidFill>
                  <a:srgbClr val="0E1330"/>
                </a:solidFill>
                <a:latin typeface="Calibri" pitchFamily="34" charset="0"/>
                <a:ea typeface="Calibri" pitchFamily="34" charset="-122"/>
                <a:cs typeface="Calibri" pitchFamily="34" charset="-120"/>
              </a:rPr>
              <a:t>Push to GitHub</a:t>
            </a:r>
            <a:endParaRPr lang="en-US" sz="2100" dirty="0"/>
          </a:p>
        </p:txBody>
      </p:sp>
      <p:sp>
        <p:nvSpPr>
          <p:cNvPr id="8" name="Text 5"/>
          <p:cNvSpPr txBox="1"/>
          <p:nvPr/>
        </p:nvSpPr>
        <p:spPr>
          <a:xfrm>
            <a:off x="914400" y="3520440"/>
            <a:ext cx="3017520" cy="1280160"/>
          </a:xfrm>
          <a:prstGeom prst="rect">
            <a:avLst/>
          </a:prstGeom>
          <a:noFill/>
          <a:ln/>
        </p:spPr>
        <p:txBody>
          <a:bodyPr wrap="square" lIns="0" tIns="0" rIns="0" bIns="0" rtlCol="0" anchor="t"/>
          <a:lstStyle/>
          <a:p>
            <a:pPr indent="0" marL="0">
              <a:buNone/>
            </a:pPr>
            <a:r>
              <a:rPr lang="en-US" sz="1500" dirty="0">
                <a:solidFill>
                  <a:srgbClr val="3B4468"/>
                </a:solidFill>
                <a:latin typeface="Calibri" pitchFamily="34" charset="0"/>
                <a:ea typeface="Calibri" pitchFamily="34" charset="-122"/>
                <a:cs typeface="Calibri" pitchFamily="34" charset="-120"/>
              </a:rPr>
              <a:t>Commit code, the trained model and the README</a:t>
            </a:r>
            <a:endParaRPr lang="en-US" sz="1500" dirty="0"/>
          </a:p>
        </p:txBody>
      </p:sp>
      <p:sp>
        <p:nvSpPr>
          <p:cNvPr id="9" name="card"/>
          <p:cNvSpPr/>
          <p:nvPr/>
        </p:nvSpPr>
        <p:spPr>
          <a:xfrm>
            <a:off x="4343400" y="1828800"/>
            <a:ext cx="3520440" cy="3200400"/>
          </a:xfrm>
          <a:prstGeom prst="roundRect">
            <a:avLst>
              <a:gd name="adj" fmla="val 4000"/>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0" name="Text 7"/>
          <p:cNvSpPr txBox="1"/>
          <p:nvPr/>
        </p:nvSpPr>
        <p:spPr>
          <a:xfrm>
            <a:off x="4617720" y="2011680"/>
            <a:ext cx="731520" cy="731520"/>
          </a:xfrm>
          <a:prstGeom prst="rect">
            <a:avLst/>
          </a:prstGeom>
          <a:noFill/>
          <a:ln/>
        </p:spPr>
        <p:txBody>
          <a:bodyPr wrap="square" lIns="0" tIns="0" rIns="0" bIns="0" rtlCol="0" anchor="t"/>
          <a:lstStyle/>
          <a:p>
            <a:pPr indent="0" marL="0">
              <a:buNone/>
            </a:pPr>
            <a:r>
              <a:rPr lang="en-US" sz="4400" b="1" dirty="0">
                <a:solidFill>
                  <a:srgbClr val="5B4BE0"/>
                </a:solidFill>
                <a:latin typeface="Cambria" pitchFamily="34" charset="0"/>
                <a:ea typeface="Cambria" pitchFamily="34" charset="-122"/>
                <a:cs typeface="Cambria" pitchFamily="34" charset="-120"/>
              </a:rPr>
              <a:t>2</a:t>
            </a:r>
            <a:endParaRPr lang="en-US" sz="4400" dirty="0"/>
          </a:p>
        </p:txBody>
      </p:sp>
      <p:sp>
        <p:nvSpPr>
          <p:cNvPr id="11" name="icon-bg"/>
          <p:cNvSpPr/>
          <p:nvPr/>
        </p:nvSpPr>
        <p:spPr>
          <a:xfrm>
            <a:off x="6949440" y="2057400"/>
            <a:ext cx="640080" cy="640080"/>
          </a:xfrm>
          <a:prstGeom prst="ellipse">
            <a:avLst/>
          </a:prstGeom>
          <a:solidFill>
            <a:srgbClr val="0B9E65"/>
          </a:solidFill>
          <a:ln w="12700">
            <a:solidFill>
              <a:srgbClr val="0B9E65"/>
            </a:solidFill>
            <a:prstDash val="solid"/>
          </a:ln>
        </p:spPr>
      </p:sp>
      <p:pic>
        <p:nvPicPr>
          <p:cNvPr id="12" name="Image 1" descr="Rocket icon">    </p:cNvPr>
          <p:cNvPicPr>
            <a:picLocks noChangeAspect="1"/>
          </p:cNvPicPr>
          <p:nvPr/>
        </p:nvPicPr>
        <p:blipFill>
          <a:blip r:embed="rId2"/>
          <a:stretch>
            <a:fillRect/>
          </a:stretch>
        </p:blipFill>
        <p:spPr>
          <a:xfrm>
            <a:off x="7109460" y="2217420"/>
            <a:ext cx="320040" cy="320040"/>
          </a:xfrm>
          <a:prstGeom prst="rect">
            <a:avLst/>
          </a:prstGeom>
        </p:spPr>
      </p:pic>
      <p:sp>
        <p:nvSpPr>
          <p:cNvPr id="13" name="Text 9"/>
          <p:cNvSpPr txBox="1"/>
          <p:nvPr/>
        </p:nvSpPr>
        <p:spPr>
          <a:xfrm>
            <a:off x="4617720" y="3017520"/>
            <a:ext cx="3017520" cy="411480"/>
          </a:xfrm>
          <a:prstGeom prst="rect">
            <a:avLst/>
          </a:prstGeom>
          <a:noFill/>
          <a:ln/>
        </p:spPr>
        <p:txBody>
          <a:bodyPr wrap="square" lIns="0" tIns="0" rIns="0" bIns="0" rtlCol="0" anchor="t"/>
          <a:lstStyle/>
          <a:p>
            <a:pPr indent="0" marL="0">
              <a:buNone/>
            </a:pPr>
            <a:r>
              <a:rPr lang="en-US" sz="2100" b="1" dirty="0">
                <a:solidFill>
                  <a:srgbClr val="0E1330"/>
                </a:solidFill>
                <a:latin typeface="Calibri" pitchFamily="34" charset="0"/>
                <a:ea typeface="Calibri" pitchFamily="34" charset="-122"/>
                <a:cs typeface="Calibri" pitchFamily="34" charset="-120"/>
              </a:rPr>
              <a:t>Deploy on Vercel</a:t>
            </a:r>
            <a:endParaRPr lang="en-US" sz="2100" dirty="0"/>
          </a:p>
        </p:txBody>
      </p:sp>
      <p:sp>
        <p:nvSpPr>
          <p:cNvPr id="14" name="Text 10"/>
          <p:cNvSpPr txBox="1"/>
          <p:nvPr/>
        </p:nvSpPr>
        <p:spPr>
          <a:xfrm>
            <a:off x="4617720" y="3520440"/>
            <a:ext cx="3017520" cy="1280160"/>
          </a:xfrm>
          <a:prstGeom prst="rect">
            <a:avLst/>
          </a:prstGeom>
          <a:noFill/>
          <a:ln/>
        </p:spPr>
        <p:txBody>
          <a:bodyPr wrap="square" lIns="0" tIns="0" rIns="0" bIns="0" rtlCol="0" anchor="t"/>
          <a:lstStyle/>
          <a:p>
            <a:pPr indent="0" marL="0">
              <a:buNone/>
            </a:pPr>
            <a:r>
              <a:rPr lang="en-US" sz="1500" dirty="0">
                <a:solidFill>
                  <a:srgbClr val="3B4468"/>
                </a:solidFill>
                <a:latin typeface="Calibri" pitchFamily="34" charset="0"/>
                <a:ea typeface="Calibri" pitchFamily="34" charset="-122"/>
                <a:cs typeface="Calibri" pitchFamily="34" charset="-120"/>
              </a:rPr>
              <a:t>Import the repo; vercel.json serves the frontend and Flask API</a:t>
            </a:r>
            <a:endParaRPr lang="en-US" sz="1500" dirty="0"/>
          </a:p>
        </p:txBody>
      </p:sp>
      <p:sp>
        <p:nvSpPr>
          <p:cNvPr id="15" name="card"/>
          <p:cNvSpPr/>
          <p:nvPr/>
        </p:nvSpPr>
        <p:spPr>
          <a:xfrm>
            <a:off x="8046720" y="1828800"/>
            <a:ext cx="3520440" cy="3200400"/>
          </a:xfrm>
          <a:prstGeom prst="roundRect">
            <a:avLst>
              <a:gd name="adj" fmla="val 4000"/>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16" name="Text 12"/>
          <p:cNvSpPr txBox="1"/>
          <p:nvPr/>
        </p:nvSpPr>
        <p:spPr>
          <a:xfrm>
            <a:off x="8321040" y="2011680"/>
            <a:ext cx="731520" cy="731520"/>
          </a:xfrm>
          <a:prstGeom prst="rect">
            <a:avLst/>
          </a:prstGeom>
          <a:noFill/>
          <a:ln/>
        </p:spPr>
        <p:txBody>
          <a:bodyPr wrap="square" lIns="0" tIns="0" rIns="0" bIns="0" rtlCol="0" anchor="t"/>
          <a:lstStyle/>
          <a:p>
            <a:pPr indent="0" marL="0">
              <a:buNone/>
            </a:pPr>
            <a:r>
              <a:rPr lang="en-US" sz="4400" b="1" dirty="0">
                <a:solidFill>
                  <a:srgbClr val="5B4BE0"/>
                </a:solidFill>
                <a:latin typeface="Cambria" pitchFamily="34" charset="0"/>
                <a:ea typeface="Cambria" pitchFamily="34" charset="-122"/>
                <a:cs typeface="Cambria" pitchFamily="34" charset="-120"/>
              </a:rPr>
              <a:t>3</a:t>
            </a:r>
            <a:endParaRPr lang="en-US" sz="4400" dirty="0"/>
          </a:p>
        </p:txBody>
      </p:sp>
      <p:sp>
        <p:nvSpPr>
          <p:cNvPr id="17" name="icon-bg"/>
          <p:cNvSpPr/>
          <p:nvPr/>
        </p:nvSpPr>
        <p:spPr>
          <a:xfrm>
            <a:off x="10652760" y="2057400"/>
            <a:ext cx="640080" cy="640080"/>
          </a:xfrm>
          <a:prstGeom prst="ellipse">
            <a:avLst/>
          </a:prstGeom>
          <a:solidFill>
            <a:srgbClr val="1B2250"/>
          </a:solidFill>
          <a:ln w="12700">
            <a:solidFill>
              <a:srgbClr val="1B2250"/>
            </a:solidFill>
            <a:prstDash val="solid"/>
          </a:ln>
        </p:spPr>
      </p:sp>
      <p:pic>
        <p:nvPicPr>
          <p:cNvPr id="18" name="Image 2" descr="Key icon">    </p:cNvPr>
          <p:cNvPicPr>
            <a:picLocks noChangeAspect="1"/>
          </p:cNvPicPr>
          <p:nvPr/>
        </p:nvPicPr>
        <p:blipFill>
          <a:blip r:embed="rId3"/>
          <a:stretch>
            <a:fillRect/>
          </a:stretch>
        </p:blipFill>
        <p:spPr>
          <a:xfrm>
            <a:off x="10812780" y="2217420"/>
            <a:ext cx="320040" cy="320040"/>
          </a:xfrm>
          <a:prstGeom prst="rect">
            <a:avLst/>
          </a:prstGeom>
        </p:spPr>
      </p:pic>
      <p:sp>
        <p:nvSpPr>
          <p:cNvPr id="19" name="Text 14"/>
          <p:cNvSpPr txBox="1"/>
          <p:nvPr/>
        </p:nvSpPr>
        <p:spPr>
          <a:xfrm>
            <a:off x="8321040" y="3017520"/>
            <a:ext cx="3017520" cy="411480"/>
          </a:xfrm>
          <a:prstGeom prst="rect">
            <a:avLst/>
          </a:prstGeom>
          <a:noFill/>
          <a:ln/>
        </p:spPr>
        <p:txBody>
          <a:bodyPr wrap="square" lIns="0" tIns="0" rIns="0" bIns="0" rtlCol="0" anchor="t"/>
          <a:lstStyle/>
          <a:p>
            <a:pPr indent="0" marL="0">
              <a:buNone/>
            </a:pPr>
            <a:r>
              <a:rPr lang="en-US" sz="2100" b="1" dirty="0">
                <a:solidFill>
                  <a:srgbClr val="0E1330"/>
                </a:solidFill>
                <a:latin typeface="Calibri" pitchFamily="34" charset="0"/>
                <a:ea typeface="Calibri" pitchFamily="34" charset="-122"/>
                <a:cs typeface="Calibri" pitchFamily="34" charset="-120"/>
              </a:rPr>
              <a:t>Authorise the domain</a:t>
            </a:r>
            <a:endParaRPr lang="en-US" sz="2100" dirty="0"/>
          </a:p>
        </p:txBody>
      </p:sp>
      <p:sp>
        <p:nvSpPr>
          <p:cNvPr id="20" name="Text 15"/>
          <p:cNvSpPr txBox="1"/>
          <p:nvPr/>
        </p:nvSpPr>
        <p:spPr>
          <a:xfrm>
            <a:off x="8321040" y="3520440"/>
            <a:ext cx="3017520" cy="1280160"/>
          </a:xfrm>
          <a:prstGeom prst="rect">
            <a:avLst/>
          </a:prstGeom>
          <a:noFill/>
          <a:ln/>
        </p:spPr>
        <p:txBody>
          <a:bodyPr wrap="square" lIns="0" tIns="0" rIns="0" bIns="0" rtlCol="0" anchor="t"/>
          <a:lstStyle/>
          <a:p>
            <a:pPr indent="0" marL="0">
              <a:buNone/>
            </a:pPr>
            <a:r>
              <a:rPr lang="en-US" sz="1500" dirty="0">
                <a:solidFill>
                  <a:srgbClr val="3B4468"/>
                </a:solidFill>
                <a:latin typeface="Calibri" pitchFamily="34" charset="0"/>
                <a:ea typeface="Calibri" pitchFamily="34" charset="-122"/>
                <a:cs typeface="Calibri" pitchFamily="34" charset="-120"/>
              </a:rPr>
              <a:t>Add the Vercel URL in Firebase authorised domains</a:t>
            </a:r>
            <a:endParaRPr lang="en-US" sz="1500" dirty="0"/>
          </a:p>
        </p:txBody>
      </p:sp>
      <p:sp>
        <p:nvSpPr>
          <p:cNvPr id="21" name="Text 16"/>
          <p:cNvSpPr txBox="1"/>
          <p:nvPr/>
        </p:nvSpPr>
        <p:spPr>
          <a:xfrm>
            <a:off x="640080" y="5349240"/>
            <a:ext cx="10881360" cy="457200"/>
          </a:xfrm>
          <a:prstGeom prst="rect">
            <a:avLst/>
          </a:prstGeom>
          <a:noFill/>
          <a:ln/>
        </p:spPr>
        <p:txBody>
          <a:bodyPr wrap="square" lIns="0" tIns="0" rIns="0" bIns="0" rtlCol="0" anchor="t"/>
          <a:lstStyle/>
          <a:p>
            <a:pPr indent="0" marL="0">
              <a:buNone/>
            </a:pPr>
            <a:r>
              <a:rPr lang="en-US" sz="1800" b="1" dirty="0">
                <a:solidFill>
                  <a:srgbClr val="5B4BE0"/>
                </a:solidFill>
                <a:latin typeface="Calibri" pitchFamily="34" charset="0"/>
                <a:ea typeface="Calibri" pitchFamily="34" charset="-122"/>
                <a:cs typeface="Calibri" pitchFamily="34" charset="-120"/>
              </a:rPr>
              <a:t>Check /api/health on the live site: it should report that the model is loaded.</a:t>
            </a:r>
            <a:endParaRPr lang="en-US" sz="18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640080" y="411480"/>
            <a:ext cx="1091153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mbria" pitchFamily="34" charset="0"/>
                <a:ea typeface="Cambria" pitchFamily="34" charset="-122"/>
                <a:cs typeface="Cambria" pitchFamily="34" charset="-120"/>
              </a:rPr>
              <a:t>Limits and next steps</a:t>
            </a:r>
            <a:endParaRPr lang="en-US" sz="3600" dirty="0"/>
          </a:p>
        </p:txBody>
      </p:sp>
      <p:sp>
        <p:nvSpPr>
          <p:cNvPr id="3" name="card"/>
          <p:cNvSpPr/>
          <p:nvPr/>
        </p:nvSpPr>
        <p:spPr>
          <a:xfrm>
            <a:off x="640080" y="1691640"/>
            <a:ext cx="5349240" cy="4206240"/>
          </a:xfrm>
          <a:prstGeom prst="roundRect">
            <a:avLst>
              <a:gd name="adj" fmla="val 3043"/>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4" name="Text 2"/>
          <p:cNvSpPr txBox="1"/>
          <p:nvPr/>
        </p:nvSpPr>
        <p:spPr>
          <a:xfrm>
            <a:off x="1005840" y="1920240"/>
            <a:ext cx="4572000" cy="457200"/>
          </a:xfrm>
          <a:prstGeom prst="rect">
            <a:avLst/>
          </a:prstGeom>
          <a:noFill/>
          <a:ln/>
        </p:spPr>
        <p:txBody>
          <a:bodyPr wrap="square" lIns="0" tIns="0" rIns="0" bIns="0" rtlCol="0" anchor="t"/>
          <a:lstStyle/>
          <a:p>
            <a:pPr indent="0" marL="0">
              <a:buNone/>
            </a:pPr>
            <a:r>
              <a:rPr lang="en-US" sz="2400" b="1" dirty="0">
                <a:solidFill>
                  <a:srgbClr val="0E1330"/>
                </a:solidFill>
                <a:latin typeface="Cambria" pitchFamily="34" charset="0"/>
                <a:ea typeface="Cambria" pitchFamily="34" charset="-122"/>
                <a:cs typeface="Cambria" pitchFamily="34" charset="-120"/>
              </a:rPr>
              <a:t>Honest limits</a:t>
            </a:r>
            <a:endParaRPr lang="en-US" sz="2400" dirty="0"/>
          </a:p>
        </p:txBody>
      </p:sp>
      <p:sp>
        <p:nvSpPr>
          <p:cNvPr id="5" name="Text 3"/>
          <p:cNvSpPr txBox="1"/>
          <p:nvPr/>
        </p:nvSpPr>
        <p:spPr>
          <a:xfrm>
            <a:off x="1005840" y="2606040"/>
            <a:ext cx="4617720"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3B4468"/>
                </a:solidFill>
                <a:latin typeface="Calibri" pitchFamily="34" charset="0"/>
                <a:ea typeface="Calibri" pitchFamily="34" charset="-122"/>
                <a:cs typeface="Calibri" pitchFamily="34" charset="-120"/>
              </a:rPr>
              <a:t>Trained on English tweets, so long reviews can score lower</a:t>
            </a:r>
            <a:endParaRPr lang="en-US" sz="1700" dirty="0"/>
          </a:p>
          <a:p>
            <a:pPr marL="342900" indent="-342900">
              <a:spcAft>
                <a:spcPts val="1200"/>
              </a:spcAft>
              <a:buSzPct val="100000"/>
              <a:buChar char="•"/>
            </a:pPr>
            <a:r>
              <a:rPr lang="en-US" sz="1700" dirty="0">
                <a:solidFill>
                  <a:srgbClr val="3B4468"/>
                </a:solidFill>
                <a:latin typeface="Calibri" pitchFamily="34" charset="0"/>
                <a:ea typeface="Calibri" pitchFamily="34" charset="-122"/>
                <a:cs typeface="Calibri" pitchFamily="34" charset="-120"/>
              </a:rPr>
              <a:t>Sarcasm and mixed opinions are hard for a bag-of-words model</a:t>
            </a:r>
            <a:endParaRPr lang="en-US" sz="1700" dirty="0"/>
          </a:p>
          <a:p>
            <a:pPr marL="342900" indent="-342900">
              <a:spcAft>
                <a:spcPts val="1200"/>
              </a:spcAft>
              <a:buSzPct val="100000"/>
              <a:buChar char="•"/>
            </a:pPr>
            <a:r>
              <a:rPr lang="en-US" sz="1700" dirty="0">
                <a:solidFill>
                  <a:srgbClr val="3B4468"/>
                </a:solidFill>
                <a:latin typeface="Calibri" pitchFamily="34" charset="0"/>
                <a:ea typeface="Calibri" pitchFamily="34" charset="-122"/>
                <a:cs typeface="Calibri" pitchFamily="34" charset="-120"/>
              </a:rPr>
              <a:t>Neutral overlaps with both other classes</a:t>
            </a:r>
            <a:endParaRPr lang="en-US" sz="1700" dirty="0"/>
          </a:p>
        </p:txBody>
      </p:sp>
      <p:sp>
        <p:nvSpPr>
          <p:cNvPr id="6" name="card"/>
          <p:cNvSpPr/>
          <p:nvPr/>
        </p:nvSpPr>
        <p:spPr>
          <a:xfrm>
            <a:off x="6217920" y="1691640"/>
            <a:ext cx="5349240" cy="4206240"/>
          </a:xfrm>
          <a:prstGeom prst="roundRect">
            <a:avLst>
              <a:gd name="adj" fmla="val 3043"/>
            </a:avLst>
          </a:prstGeom>
          <a:solidFill>
            <a:srgbClr val="FFFFFF"/>
          </a:solidFill>
          <a:ln w="9525">
            <a:solidFill>
              <a:srgbClr val="E3E6F2"/>
            </a:solidFill>
            <a:prstDash val="solid"/>
          </a:ln>
          <a:effectLst>
            <a:outerShdw sx="100000" sy="100000" kx="0" ky="0" algn="bl" rotWithShape="0" blurRad="127000" dist="38100" dir="5400000">
              <a:srgbClr val="0E1330">
                <a:alpha val="10000"/>
              </a:srgbClr>
            </a:outerShdw>
          </a:effectLst>
        </p:spPr>
      </p:sp>
      <p:sp>
        <p:nvSpPr>
          <p:cNvPr id="7" name="Text 5"/>
          <p:cNvSpPr txBox="1"/>
          <p:nvPr/>
        </p:nvSpPr>
        <p:spPr>
          <a:xfrm>
            <a:off x="6583680" y="1920240"/>
            <a:ext cx="4572000" cy="457200"/>
          </a:xfrm>
          <a:prstGeom prst="rect">
            <a:avLst/>
          </a:prstGeom>
          <a:noFill/>
          <a:ln/>
        </p:spPr>
        <p:txBody>
          <a:bodyPr wrap="square" lIns="0" tIns="0" rIns="0" bIns="0" rtlCol="0" anchor="t"/>
          <a:lstStyle/>
          <a:p>
            <a:pPr indent="0" marL="0">
              <a:buNone/>
            </a:pPr>
            <a:r>
              <a:rPr lang="en-US" sz="2400" b="1" dirty="0">
                <a:solidFill>
                  <a:srgbClr val="0E1330"/>
                </a:solidFill>
                <a:latin typeface="Cambria" pitchFamily="34" charset="0"/>
                <a:ea typeface="Cambria" pitchFamily="34" charset="-122"/>
                <a:cs typeface="Cambria" pitchFamily="34" charset="-120"/>
              </a:rPr>
              <a:t>Next steps</a:t>
            </a:r>
            <a:endParaRPr lang="en-US" sz="2400" dirty="0"/>
          </a:p>
        </p:txBody>
      </p:sp>
      <p:sp>
        <p:nvSpPr>
          <p:cNvPr id="8" name="Text 6"/>
          <p:cNvSpPr txBox="1"/>
          <p:nvPr/>
        </p:nvSpPr>
        <p:spPr>
          <a:xfrm>
            <a:off x="6583680" y="2606040"/>
            <a:ext cx="4617720"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3B4468"/>
                </a:solidFill>
                <a:latin typeface="Calibri" pitchFamily="34" charset="0"/>
                <a:ea typeface="Calibri" pitchFamily="34" charset="-122"/>
                <a:cs typeface="Calibri" pitchFamily="34" charset="-120"/>
              </a:rPr>
              <a:t>Train on product-review data to match real use</a:t>
            </a:r>
            <a:endParaRPr lang="en-US" sz="1700" dirty="0"/>
          </a:p>
          <a:p>
            <a:pPr marL="342900" indent="-342900">
              <a:spcAft>
                <a:spcPts val="1200"/>
              </a:spcAft>
              <a:buSzPct val="100000"/>
              <a:buChar char="•"/>
            </a:pPr>
            <a:r>
              <a:rPr lang="en-US" sz="1700" dirty="0">
                <a:solidFill>
                  <a:srgbClr val="3B4468"/>
                </a:solidFill>
                <a:latin typeface="Calibri" pitchFamily="34" charset="0"/>
                <a:ea typeface="Calibri" pitchFamily="34" charset="-122"/>
                <a:cs typeface="Calibri" pitchFamily="34" charset="-120"/>
              </a:rPr>
              <a:t>Try a transformer model for better accuracy</a:t>
            </a:r>
            <a:endParaRPr lang="en-US" sz="1700" dirty="0"/>
          </a:p>
          <a:p>
            <a:pPr marL="342900" indent="-342900">
              <a:spcAft>
                <a:spcPts val="1200"/>
              </a:spcAft>
              <a:buSzPct val="100000"/>
              <a:buChar char="•"/>
            </a:pPr>
            <a:r>
              <a:rPr lang="en-US" sz="1700" dirty="0">
                <a:solidFill>
                  <a:srgbClr val="3B4468"/>
                </a:solidFill>
                <a:latin typeface="Calibri" pitchFamily="34" charset="0"/>
                <a:ea typeface="Calibri" pitchFamily="34" charset="-122"/>
                <a:cs typeface="Calibri" pitchFamily="34" charset="-120"/>
              </a:rPr>
              <a:t>Batch upload: analyse a whole CSV of reviews</a:t>
            </a:r>
            <a:endParaRPr lang="en-US" sz="1700" dirty="0"/>
          </a:p>
          <a:p>
            <a:pPr marL="342900" indent="-342900">
              <a:spcAft>
                <a:spcPts val="1200"/>
              </a:spcAft>
              <a:buSzPct val="100000"/>
              <a:buChar char="•"/>
            </a:pPr>
            <a:r>
              <a:rPr lang="en-US" sz="1700" dirty="0">
                <a:solidFill>
                  <a:srgbClr val="3B4468"/>
                </a:solidFill>
                <a:latin typeface="Calibri" pitchFamily="34" charset="0"/>
                <a:ea typeface="Calibri" pitchFamily="34" charset="-122"/>
                <a:cs typeface="Calibri" pitchFamily="34" charset="-120"/>
              </a:rPr>
              <a:t>Support more languages, including Urdu</a:t>
            </a:r>
            <a:endParaRPr lang="en-US" sz="1700" dirty="0"/>
          </a:p>
        </p:txBody>
      </p:sp>
      <p:sp>
        <p:nvSpPr>
          <p:cNvPr id="25" name="Slide Number Placeholder 0"/>
          <p:cNvSpPr>
            <a:spLocks noGrp="1"/>
          </p:cNvSpPr>
          <p:nvPr>
            <p:ph type="sldNum" sz="quarter" idx="4294967295"/>
          </p:nvPr>
        </p:nvSpPr>
        <p:spPr>
          <a:xfrm>
            <a:off x="11002975" y="6291072"/>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A638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rb-0B9E65"/>
          <p:cNvSpPr/>
          <p:nvPr/>
        </p:nvSpPr>
        <p:spPr>
          <a:xfrm>
            <a:off x="7863840" y="640080"/>
            <a:ext cx="2926080" cy="2926080"/>
          </a:xfrm>
          <a:prstGeom prst="ellipse">
            <a:avLst/>
          </a:prstGeom>
          <a:solidFill>
            <a:srgbClr val="0B9E65">
              <a:alpha val="60000"/>
            </a:srgbClr>
          </a:solidFill>
          <a:ln w="12700">
            <a:solidFill>
              <a:srgbClr val="0B9E65"/>
            </a:solidFill>
            <a:prstDash val="solid"/>
          </a:ln>
        </p:spPr>
      </p:sp>
      <p:sp>
        <p:nvSpPr>
          <p:cNvPr id="3" name="orb-E8A317"/>
          <p:cNvSpPr/>
          <p:nvPr/>
        </p:nvSpPr>
        <p:spPr>
          <a:xfrm>
            <a:off x="9144000" y="1737360"/>
            <a:ext cx="2926080" cy="2926080"/>
          </a:xfrm>
          <a:prstGeom prst="ellipse">
            <a:avLst/>
          </a:prstGeom>
          <a:solidFill>
            <a:srgbClr val="E8A317">
              <a:alpha val="60000"/>
            </a:srgbClr>
          </a:solidFill>
          <a:ln w="12700">
            <a:solidFill>
              <a:srgbClr val="E8A317"/>
            </a:solidFill>
            <a:prstDash val="solid"/>
          </a:ln>
        </p:spPr>
      </p:sp>
      <p:sp>
        <p:nvSpPr>
          <p:cNvPr id="4" name="orb-D93A57"/>
          <p:cNvSpPr/>
          <p:nvPr/>
        </p:nvSpPr>
        <p:spPr>
          <a:xfrm>
            <a:off x="7772400" y="2377440"/>
            <a:ext cx="2926080" cy="2926080"/>
          </a:xfrm>
          <a:prstGeom prst="ellipse">
            <a:avLst/>
          </a:prstGeom>
          <a:solidFill>
            <a:srgbClr val="D93A57">
              <a:alpha val="60000"/>
            </a:srgbClr>
          </a:solidFill>
          <a:ln w="12700">
            <a:solidFill>
              <a:srgbClr val="D93A57"/>
            </a:solidFill>
            <a:prstDash val="solid"/>
          </a:ln>
        </p:spPr>
      </p:sp>
      <p:sp>
        <p:nvSpPr>
          <p:cNvPr id="5" name="orb-core"/>
          <p:cNvSpPr/>
          <p:nvPr/>
        </p:nvSpPr>
        <p:spPr>
          <a:xfrm>
            <a:off x="9418320" y="3108960"/>
            <a:ext cx="914400" cy="914400"/>
          </a:xfrm>
          <a:prstGeom prst="ellipse">
            <a:avLst/>
          </a:prstGeom>
          <a:solidFill>
            <a:srgbClr val="0E1330"/>
          </a:solidFill>
          <a:ln w="12700">
            <a:solidFill>
              <a:srgbClr val="0E1330"/>
            </a:solidFill>
            <a:prstDash val="solid"/>
          </a:ln>
        </p:spPr>
      </p:sp>
      <p:sp>
        <p:nvSpPr>
          <p:cNvPr id="6" name="Text 4"/>
          <p:cNvSpPr txBox="1"/>
          <p:nvPr/>
        </p:nvSpPr>
        <p:spPr>
          <a:xfrm>
            <a:off x="822960" y="1463040"/>
            <a:ext cx="6400800" cy="1097280"/>
          </a:xfrm>
          <a:prstGeom prst="rect">
            <a:avLst/>
          </a:prstGeom>
          <a:noFill/>
          <a:ln/>
        </p:spPr>
        <p:txBody>
          <a:bodyPr wrap="square" lIns="0" tIns="0" rIns="0" bIns="0" rtlCol="0" anchor="t"/>
          <a:lstStyle/>
          <a:p>
            <a:pPr indent="0" marL="0">
              <a:buNone/>
            </a:pPr>
            <a:r>
              <a:rPr lang="en-US" sz="6400" b="1" dirty="0">
                <a:solidFill>
                  <a:srgbClr val="FFFFFF"/>
                </a:solidFill>
                <a:latin typeface="Cambria" pitchFamily="34" charset="0"/>
                <a:ea typeface="Cambria" pitchFamily="34" charset="-122"/>
                <a:cs typeface="Cambria" pitchFamily="34" charset="-120"/>
              </a:rPr>
              <a:t>Thank you</a:t>
            </a:r>
            <a:endParaRPr lang="en-US" sz="6400" dirty="0"/>
          </a:p>
        </p:txBody>
      </p:sp>
      <p:sp>
        <p:nvSpPr>
          <p:cNvPr id="7" name="Text 5"/>
          <p:cNvSpPr txBox="1"/>
          <p:nvPr/>
        </p:nvSpPr>
        <p:spPr>
          <a:xfrm>
            <a:off x="822960" y="2651760"/>
            <a:ext cx="6400800" cy="548640"/>
          </a:xfrm>
          <a:prstGeom prst="rect">
            <a:avLst/>
          </a:prstGeom>
          <a:noFill/>
          <a:ln/>
        </p:spPr>
        <p:txBody>
          <a:bodyPr wrap="square" lIns="0" tIns="0" rIns="0" bIns="0" rtlCol="0" anchor="t"/>
          <a:lstStyle/>
          <a:p>
            <a:pPr indent="0" marL="0">
              <a:buNone/>
            </a:pPr>
            <a:r>
              <a:rPr lang="en-US" sz="2400" dirty="0">
                <a:solidFill>
                  <a:srgbClr val="CFD4F2"/>
                </a:solidFill>
                <a:latin typeface="Calibri" pitchFamily="34" charset="0"/>
                <a:ea typeface="Calibri" pitchFamily="34" charset="-122"/>
                <a:cs typeface="Calibri" pitchFamily="34" charset="-120"/>
              </a:rPr>
              <a:t>Questions are welcome</a:t>
            </a:r>
            <a:endParaRPr lang="en-US" sz="2400" dirty="0"/>
          </a:p>
        </p:txBody>
      </p:sp>
      <p:sp>
        <p:nvSpPr>
          <p:cNvPr id="8" name="Text 6"/>
          <p:cNvSpPr txBox="1"/>
          <p:nvPr/>
        </p:nvSpPr>
        <p:spPr>
          <a:xfrm>
            <a:off x="822960" y="3977640"/>
            <a:ext cx="2743200" cy="274320"/>
          </a:xfrm>
          <a:prstGeom prst="rect">
            <a:avLst/>
          </a:prstGeom>
          <a:noFill/>
          <a:ln/>
        </p:spPr>
        <p:txBody>
          <a:bodyPr wrap="square" lIns="0" tIns="0" rIns="0" bIns="0" rtlCol="0" anchor="t"/>
          <a:lstStyle/>
          <a:p>
            <a:pPr indent="0" marL="0">
              <a:buNone/>
            </a:pPr>
            <a:r>
              <a:rPr lang="en-US" sz="1300" b="1" dirty="0">
                <a:solidFill>
                  <a:srgbClr val="3DF0A5"/>
                </a:solidFill>
                <a:latin typeface="Calibri" pitchFamily="34" charset="0"/>
                <a:ea typeface="Calibri" pitchFamily="34" charset="-122"/>
                <a:cs typeface="Calibri" pitchFamily="34" charset="-120"/>
              </a:rPr>
              <a:t>LIVE APP</a:t>
            </a:r>
            <a:endParaRPr lang="en-US" sz="1300" dirty="0"/>
          </a:p>
        </p:txBody>
      </p:sp>
      <p:sp>
        <p:nvSpPr>
          <p:cNvPr id="9" name="Text 7">
            <a:hlinkClick r:id="rId1" tooltip="Open the live app"/>
          </p:cNvPr>
          <p:cNvSpPr txBox="1"/>
          <p:nvPr/>
        </p:nvSpPr>
        <p:spPr>
          <a:xfrm>
            <a:off x="822960" y="4251960"/>
            <a:ext cx="6675120" cy="365760"/>
          </a:xfrm>
          <a:prstGeom prst="rect">
            <a:avLst/>
          </a:prstGeom>
          <a:noFill/>
          <a:ln/>
        </p:spPr>
        <p:txBody>
          <a:bodyPr wrap="square" lIns="0" tIns="0" rIns="0" bIns="0" rtlCol="0" anchor="t"/>
          <a:lstStyle/>
          <a:p>
            <a:pPr indent="0" marL="0">
              <a:buNone/>
            </a:pPr>
            <a:r>
              <a:rPr lang="en-US" sz="1800" u="sng" dirty="0">
                <a:solidFill>
                  <a:srgbClr val="FFFFFF"/>
                </a:solidFill>
                <a:latin typeface="Calibri" pitchFamily="34" charset="0"/>
                <a:ea typeface="Calibri" pitchFamily="34" charset="-122"/>
                <a:cs typeface="Calibri" pitchFamily="34" charset="-120"/>
                <a:hlinkClick r:id="rId1" invalidUrl="" action="" tgtFrame="" tooltip="Open the live app" history="1" highlightClick="0" endSnd="0">
                  <a:extLst>
                    <a:ext uri="{A12FA001-AC4F-418D-AE19-62706E023703}">
                      <ahyp:hlinkClr xmlns:ahyp="http://schemas.microsoft.com/office/drawing/2018/hyperlinkcolor" val="tx"/>
                    </a:ext>
                  </a:extLst>
                </a:hlinkClick>
              </a:rPr>
              <a:t>sentra-ai-powered-sentiment-analysi.vercel.app</a:t>
            </a:r>
            <a:endParaRPr lang="en-US" sz="1800" dirty="0"/>
          </a:p>
        </p:txBody>
      </p:sp>
      <p:sp>
        <p:nvSpPr>
          <p:cNvPr id="10" name="Text 8"/>
          <p:cNvSpPr txBox="1"/>
          <p:nvPr/>
        </p:nvSpPr>
        <p:spPr>
          <a:xfrm>
            <a:off x="822960" y="4846320"/>
            <a:ext cx="2743200" cy="274320"/>
          </a:xfrm>
          <a:prstGeom prst="rect">
            <a:avLst/>
          </a:prstGeom>
          <a:noFill/>
          <a:ln/>
        </p:spPr>
        <p:txBody>
          <a:bodyPr wrap="square" lIns="0" tIns="0" rIns="0" bIns="0" rtlCol="0" anchor="t"/>
          <a:lstStyle/>
          <a:p>
            <a:pPr indent="0" marL="0">
              <a:buNone/>
            </a:pPr>
            <a:r>
              <a:rPr lang="en-US" sz="1300" b="1" dirty="0">
                <a:solidFill>
                  <a:srgbClr val="3DF0A5"/>
                </a:solidFill>
                <a:latin typeface="Calibri" pitchFamily="34" charset="0"/>
                <a:ea typeface="Calibri" pitchFamily="34" charset="-122"/>
                <a:cs typeface="Calibri" pitchFamily="34" charset="-120"/>
              </a:rPr>
              <a:t>GITHUB</a:t>
            </a:r>
            <a:endParaRPr lang="en-US" sz="1300" dirty="0"/>
          </a:p>
        </p:txBody>
      </p:sp>
      <p:sp>
        <p:nvSpPr>
          <p:cNvPr id="11" name="Text 9">
            <a:hlinkClick r:id="rId2" tooltip="Open the repository"/>
          </p:cNvPr>
          <p:cNvSpPr txBox="1"/>
          <p:nvPr/>
        </p:nvSpPr>
        <p:spPr>
          <a:xfrm>
            <a:off x="822960" y="5120640"/>
            <a:ext cx="6675120" cy="365760"/>
          </a:xfrm>
          <a:prstGeom prst="rect">
            <a:avLst/>
          </a:prstGeom>
          <a:noFill/>
          <a:ln/>
        </p:spPr>
        <p:txBody>
          <a:bodyPr wrap="square" lIns="0" tIns="0" rIns="0" bIns="0" rtlCol="0" anchor="t"/>
          <a:lstStyle/>
          <a:p>
            <a:pPr indent="0" marL="0">
              <a:buNone/>
            </a:pPr>
            <a:r>
              <a:rPr lang="en-US" sz="1500" u="sng" dirty="0">
                <a:solidFill>
                  <a:srgbClr val="FFFFFF"/>
                </a:solidFill>
                <a:latin typeface="Calibri" pitchFamily="34" charset="0"/>
                <a:ea typeface="Calibri" pitchFamily="34" charset="-122"/>
                <a:cs typeface="Calibri" pitchFamily="34" charset="-120"/>
                <a:hlinkClick r:id="rId2" invalidUrl="" action="" tgtFrame="" tooltip="Open the repository" history="1" highlightClick="0" endSnd="0">
                  <a:extLst>
                    <a:ext uri="{A12FA001-AC4F-418D-AE19-62706E023703}">
                      <ahyp:hlinkClr xmlns:ahyp="http://schemas.microsoft.com/office/drawing/2018/hyperlinkcolor" val="tx"/>
                    </a:ext>
                  </a:extLst>
                </a:hlinkClick>
              </a:rPr>
              <a:t>github.com/scientistayat-engineer/Sentra-AI-Powered-Sentiment-Analysis</a:t>
            </a:r>
            <a:endParaRPr lang="en-US" sz="1500" dirty="0"/>
          </a:p>
        </p:txBody>
      </p:sp>
    </p:spTree>
  </p:cSld>
  <p:clrMapOvr>
    <a:masterClrMapping/>
  </p:clrMapOvr>
</p:sld>
</file>

<file path=ppt/theme/theme1.xml><?xml version="1.0" encoding="utf-8"?>
<a:theme xmlns:a="http://schemas.openxmlformats.org/drawingml/2006/main" name="Sentra">
  <a:themeElements>
    <a:clrScheme name="Sentra">
      <a:dk1>
        <a:srgbClr val="0E1330"/>
      </a:dk1>
      <a:lt1>
        <a:srgbClr val="FFFFFF"/>
      </a:lt1>
      <a:dk2>
        <a:srgbClr val="1B2250"/>
      </a:dk2>
      <a:lt2>
        <a:srgbClr val="F3F4FB"/>
      </a:lt2>
      <a:accent1>
        <a:srgbClr val="5B4BE0"/>
      </a:accent1>
      <a:accent2>
        <a:srgbClr val="0B9E65"/>
      </a:accent2>
      <a:accent3>
        <a:srgbClr val="D93A57"/>
      </a:accent3>
      <a:accent4>
        <a:srgbClr val="E8A317"/>
      </a:accent4>
      <a:accent5>
        <a:srgbClr val="3DF0A5"/>
      </a:accent5>
      <a:accent6>
        <a:srgbClr val="8B7BFF"/>
      </a:accent6>
      <a:hlink>
        <a:srgbClr val="5B4BE0"/>
      </a:hlink>
      <a:folHlink>
        <a:srgbClr val="8B7BFF"/>
      </a:folHlink>
    </a:clrScheme>
    <a:fontScheme name="Sentr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Sentra - AI-Powered Sentiment Analysis</dc:title>
  <dc:subject>PptxGenJS Presentation</dc:subject>
  <dc:creator>Anushay Ayat</dc:creator>
  <cp:lastModifiedBy>Anushay Ayat</cp:lastModifiedBy>
  <cp:revision>1</cp:revision>
  <dcterms:created xsi:type="dcterms:W3CDTF">2026-10-13T07:09:28Z</dcterms:created>
  <dcterms:modified xsi:type="dcterms:W3CDTF">2026-10-13T07:09:28Z</dcterms:modified>
</cp:coreProperties>
</file>